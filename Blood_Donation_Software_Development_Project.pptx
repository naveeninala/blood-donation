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75"/>
    <p:restoredTop sz="96617"/>
  </p:normalViewPr>
  <p:slideViewPr>
    <p:cSldViewPr snapToGrid="0">
      <p:cViewPr varScale="1">
        <p:scale>
          <a:sx n="85" d="100"/>
          <a:sy n="85" d="100"/>
        </p:scale>
        <p:origin x="59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BD6D40-2B80-E84A-A8D8-3B800CB60B56}" type="datetimeFigureOut">
              <a:rPr lang="en-US" smtClean="0"/>
              <a:t>8/2/2025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419BE3-600E-4A41-BC07-5C75969640BC}" type="slidenum">
              <a:rPr lang="en-US" smtClean="0"/>
              <a:t>‹#›</a:t>
            </a:fld>
            <a:endParaRPr lang="en-US"/>
          </a:p>
        </p:txBody>
      </p:sp>
    </p:spTree>
    <p:extLst>
      <p:ext uri="{BB962C8B-B14F-4D97-AF65-F5344CB8AC3E}">
        <p14:creationId xmlns:p14="http://schemas.microsoft.com/office/powerpoint/2010/main" val="65117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we are excited to present our group project — a Blood Donation Web Application, developed as part of the 7047CEM Software Development Project module at Coventry University. Our team of five collaborated over several weeks to build a secure, functional, and socially impactful system. The aim is to connect people who need blood with willing donors in their area. We’ll take you through our development journey — the design, implementation, testing, agile process, and final outcomes.”</a:t>
            </a:r>
          </a:p>
        </p:txBody>
      </p:sp>
      <p:sp>
        <p:nvSpPr>
          <p:cNvPr id="4" name="Slide Number Placeholder 3"/>
          <p:cNvSpPr>
            <a:spLocks noGrp="1"/>
          </p:cNvSpPr>
          <p:nvPr>
            <p:ph type="sldNum" sz="quarter" idx="5"/>
          </p:nvPr>
        </p:nvSpPr>
        <p:spPr/>
        <p:txBody>
          <a:bodyPr/>
          <a:lstStyle/>
          <a:p>
            <a:fld id="{36419BE3-600E-4A41-BC07-5C75969640BC}" type="slidenum">
              <a:rPr lang="en-US" smtClean="0"/>
              <a:t>1</a:t>
            </a:fld>
            <a:endParaRPr lang="en-US"/>
          </a:p>
        </p:txBody>
      </p:sp>
    </p:spTree>
    <p:extLst>
      <p:ext uri="{BB962C8B-B14F-4D97-AF65-F5344CB8AC3E}">
        <p14:creationId xmlns:p14="http://schemas.microsoft.com/office/powerpoint/2010/main" val="37513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goal was to develop a full-stack web platform that helps people find blood donors in urgent situations. The platform allows users to sign up, register as donors, request blood, search for matching donors, and manage the system through an admin panel. The application uses Flask for the backend, SQLite for data, and Bootstrap for responsive design. We focused on user-friendliness and practicality, ensuring the system is fast, ethical, and easy to deploy. Each of us handled a different core feature.”</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3</a:t>
            </a:fld>
            <a:endParaRPr lang="en-US"/>
          </a:p>
        </p:txBody>
      </p:sp>
    </p:spTree>
    <p:extLst>
      <p:ext uri="{BB962C8B-B14F-4D97-AF65-F5344CB8AC3E}">
        <p14:creationId xmlns:p14="http://schemas.microsoft.com/office/powerpoint/2010/main" val="3313640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followed the Scrum framework throughout this project. At the beginning, we created user stories like ‘As a user, I want to sign up securely’ or ‘As an admin, I want to delete suspicious accounts.’ We used Trello to manage our backlog and split tasks into sprints. Each week, we conducted short daily standups on Google Meet to update each other, resolve blockers, and plan priorities. We also estimated effort using story points, which helped us balance the work and move forward efficiently.”</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4</a:t>
            </a:fld>
            <a:endParaRPr lang="en-US"/>
          </a:p>
        </p:txBody>
      </p:sp>
    </p:spTree>
    <p:extLst>
      <p:ext uri="{BB962C8B-B14F-4D97-AF65-F5344CB8AC3E}">
        <p14:creationId xmlns:p14="http://schemas.microsoft.com/office/powerpoint/2010/main" val="2521291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project was divided into three sprints. In Sprint 1, we focused on setting up the Flask environment and implementing user authentication. Sprint 2 tackled donor registration and the blood request form. In Sprint 3, we added the admin dashboard and the donor matching feature. At the end of each sprint, we reviewed what we’d achieved using burndown charts and adjusted our backlog accordingly. This iterative process helped us deliver a testable, functional product by the end.”</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5</a:t>
            </a:fld>
            <a:endParaRPr lang="en-US"/>
          </a:p>
        </p:txBody>
      </p:sp>
    </p:spTree>
    <p:extLst>
      <p:ext uri="{BB962C8B-B14F-4D97-AF65-F5344CB8AC3E}">
        <p14:creationId xmlns:p14="http://schemas.microsoft.com/office/powerpoint/2010/main" val="1889793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used a straightforward yet powerful tech stack. Flask was our backend framework, perfect for rapid development. We chose SQLite as it’s lightweight and easy to use during development. On the frontend, HTML, CSS, and Bootstrap provided a clean and responsive UI. Trello helped us organize our sprints, while Git and GitHub ensured smooth version control and collaboration. We also used Google Meet for our standups and internal testing. These tools allowed us to stay productive and in sync.”</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6</a:t>
            </a:fld>
            <a:endParaRPr lang="en-US"/>
          </a:p>
        </p:txBody>
      </p:sp>
    </p:spTree>
    <p:extLst>
      <p:ext uri="{BB962C8B-B14F-4D97-AF65-F5344CB8AC3E}">
        <p14:creationId xmlns:p14="http://schemas.microsoft.com/office/powerpoint/2010/main" val="1828637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system follows the MVC architecture — Model, View, Controller. The model includes all our database logic with normalized tables like users, donors, and requests. Views are written in HTML with Jinja2 templating, styled using Bootstrap, and rendered by Flask routes. Controllers, or routes, handle requests and responses. This architecture helped us separate logic, keep the code clean, and made it easier to debug or enhance individual modules later. It also ensured consistent data flow and security.”</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7</a:t>
            </a:fld>
            <a:endParaRPr lang="en-US"/>
          </a:p>
        </p:txBody>
      </p:sp>
    </p:spTree>
    <p:extLst>
      <p:ext uri="{BB962C8B-B14F-4D97-AF65-F5344CB8AC3E}">
        <p14:creationId xmlns:p14="http://schemas.microsoft.com/office/powerpoint/2010/main" val="1448783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“Authentication is the foundation of our app. We implemented secure signup and login features using Flask sessions and </a:t>
            </a:r>
            <a:r>
              <a:rPr lang="en-US" dirty="0" err="1"/>
              <a:t>bcrypt</a:t>
            </a:r>
            <a:r>
              <a:rPr lang="en-US" dirty="0"/>
              <a:t> for password hashing. Sessions were used to manage login states and prevent unauthorized access. Flash messages provided real-time feedback — whether login succeeded or failed. We structured the routes clearly and added validations to prevent duplicate email registrations. Security was a top priority, and this module set the tone for all other user-facing features.”</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8</a:t>
            </a:fld>
            <a:endParaRPr lang="en-US"/>
          </a:p>
        </p:txBody>
      </p:sp>
    </p:spTree>
    <p:extLst>
      <p:ext uri="{BB962C8B-B14F-4D97-AF65-F5344CB8AC3E}">
        <p14:creationId xmlns:p14="http://schemas.microsoft.com/office/powerpoint/2010/main" val="911127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a user logs in, they can register as a blood donor. We created a simple form with fields for blood group, phone number, and city. The form is validated at both client and server levels. Once submitted, the donor’s details are stored in the database, linked to their user ID. This allows for later retrieval during donor matching. The layout is responsive and clear, making it easy to fill out, even under time pressure. This feature helps build the donor database.”</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9</a:t>
            </a:fld>
            <a:endParaRPr lang="en-US"/>
          </a:p>
        </p:txBody>
      </p:sp>
    </p:spTree>
    <p:extLst>
      <p:ext uri="{BB962C8B-B14F-4D97-AF65-F5344CB8AC3E}">
        <p14:creationId xmlns:p14="http://schemas.microsoft.com/office/powerpoint/2010/main" val="2778274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users who need blood, we built a blood request form. It collects the blood group needed, contact phone, city, and a brief reason. This request is stored in our database and used later for matching. We included validations to ensure complete and accurate data. This feature is essential for creating demand-side data that powers our donor matching system. We tested this extensively to ensure data integrity and submission flow. It provides a seamless experience for people in need.”</a:t>
            </a:r>
          </a:p>
        </p:txBody>
      </p:sp>
      <p:sp>
        <p:nvSpPr>
          <p:cNvPr id="4" name="Slide Number Placeholder 3"/>
          <p:cNvSpPr>
            <a:spLocks noGrp="1"/>
          </p:cNvSpPr>
          <p:nvPr>
            <p:ph type="sldNum" sz="quarter" idx="5"/>
          </p:nvPr>
        </p:nvSpPr>
        <p:spPr/>
        <p:txBody>
          <a:bodyPr/>
          <a:lstStyle/>
          <a:p>
            <a:fld id="{36419BE3-600E-4A41-BC07-5C75969640BC}" type="slidenum">
              <a:rPr lang="en-US" smtClean="0"/>
              <a:t>10</a:t>
            </a:fld>
            <a:endParaRPr lang="en-US"/>
          </a:p>
        </p:txBody>
      </p:sp>
    </p:spTree>
    <p:extLst>
      <p:ext uri="{BB962C8B-B14F-4D97-AF65-F5344CB8AC3E}">
        <p14:creationId xmlns:p14="http://schemas.microsoft.com/office/powerpoint/2010/main" val="288497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one of our most powerful features. When a user enters a city and blood group, the system searches for registered donors who match both criteria. The logic uses a SQL JOIN query between users and donors tables. If matches are found, they’re displayed in a table with name, email, phone, city, and blood group. If no matches exist, the user gets a clear flash message. We made sure the results are fast, accurate, and safe from injection attacks.”</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11</a:t>
            </a:fld>
            <a:endParaRPr lang="en-US"/>
          </a:p>
        </p:txBody>
      </p:sp>
    </p:spTree>
    <p:extLst>
      <p:ext uri="{BB962C8B-B14F-4D97-AF65-F5344CB8AC3E}">
        <p14:creationId xmlns:p14="http://schemas.microsoft.com/office/powerpoint/2010/main" val="23163122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manage the system, we created a secure admin dashboard. Only admins can access this view, and it’s protected by a separate login route. Admins can view all users and delete them if needed. The layout is clean and the table is responsive. Each delete button triggers a confirmation popup. We used session checks to restrict access and flash messages to notify actions. This dashboard helps enforce rules, manage misuse, and gives a layer of control over the user base.”</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12</a:t>
            </a:fld>
            <a:endParaRPr lang="en-US"/>
          </a:p>
        </p:txBody>
      </p:sp>
    </p:spTree>
    <p:extLst>
      <p:ext uri="{BB962C8B-B14F-4D97-AF65-F5344CB8AC3E}">
        <p14:creationId xmlns:p14="http://schemas.microsoft.com/office/powerpoint/2010/main" val="861477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was done through a combination of manual and exploratory methods. We used SQLite Browser to validate data entries and tested session handling through </a:t>
            </a:r>
            <a:r>
              <a:rPr lang="en-US" dirty="0" err="1"/>
              <a:t>DevTools</a:t>
            </a:r>
            <a:r>
              <a:rPr lang="en-US" dirty="0"/>
              <a:t>. All forms were checked for proper validation and edge cases. We also attempted SQL injection and other common exploits to test the security of our system. Admin routes were tested without login to confirm access blocks. Overall, each feature was tested for reliability, security, and performance under normal and abnormal use.”</a:t>
            </a:r>
          </a:p>
        </p:txBody>
      </p:sp>
      <p:sp>
        <p:nvSpPr>
          <p:cNvPr id="4" name="Slide Number Placeholder 3"/>
          <p:cNvSpPr>
            <a:spLocks noGrp="1"/>
          </p:cNvSpPr>
          <p:nvPr>
            <p:ph type="sldNum" sz="quarter" idx="5"/>
          </p:nvPr>
        </p:nvSpPr>
        <p:spPr/>
        <p:txBody>
          <a:bodyPr/>
          <a:lstStyle/>
          <a:p>
            <a:fld id="{36419BE3-600E-4A41-BC07-5C75969640BC}" type="slidenum">
              <a:rPr lang="en-US" smtClean="0"/>
              <a:t>13</a:t>
            </a:fld>
            <a:endParaRPr lang="en-US"/>
          </a:p>
        </p:txBody>
      </p:sp>
    </p:spTree>
    <p:extLst>
      <p:ext uri="{BB962C8B-B14F-4D97-AF65-F5344CB8AC3E}">
        <p14:creationId xmlns:p14="http://schemas.microsoft.com/office/powerpoint/2010/main" val="4260048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evaluated our application against several software quality metrics. For example, the login system was assessed for security, the donor registration for functionality, and the donor matching for efficiency. Our code followed clean standards, used centralized database connections, and maintained separation of concerns. We focused on maintainability and modularity so the application could scale. Templates reused layout components, routes were logically organized, and queries were optimized. These quality checks ensured a professional, robust product.”</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14</a:t>
            </a:fld>
            <a:endParaRPr lang="en-US"/>
          </a:p>
        </p:txBody>
      </p:sp>
    </p:spTree>
    <p:extLst>
      <p:ext uri="{BB962C8B-B14F-4D97-AF65-F5344CB8AC3E}">
        <p14:creationId xmlns:p14="http://schemas.microsoft.com/office/powerpoint/2010/main" val="17927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carefully considered the ethical and legal implications of our project. No real user data was used, and any testers signed consent forms. Passwords were encrypted, and access to data was restricted through session control. Admins had to log in to access sensitive routes. We complied with British Computer Society’s Code of Conduct and focused on social responsibility. Risks like data loss, misuse, or bias were mitigated through validation, secure coding, and admin moderation features.”</a:t>
            </a:r>
          </a:p>
          <a:p>
            <a:endParaRPr lang="en-US" dirty="0"/>
          </a:p>
        </p:txBody>
      </p:sp>
      <p:sp>
        <p:nvSpPr>
          <p:cNvPr id="4" name="Slide Number Placeholder 3"/>
          <p:cNvSpPr>
            <a:spLocks noGrp="1"/>
          </p:cNvSpPr>
          <p:nvPr>
            <p:ph type="sldNum" sz="quarter" idx="5"/>
          </p:nvPr>
        </p:nvSpPr>
        <p:spPr/>
        <p:txBody>
          <a:bodyPr/>
          <a:lstStyle/>
          <a:p>
            <a:fld id="{36419BE3-600E-4A41-BC07-5C75969640BC}" type="slidenum">
              <a:rPr lang="en-US" smtClean="0"/>
              <a:t>15</a:t>
            </a:fld>
            <a:endParaRPr lang="en-US"/>
          </a:p>
        </p:txBody>
      </p:sp>
    </p:spTree>
    <p:extLst>
      <p:ext uri="{BB962C8B-B14F-4D97-AF65-F5344CB8AC3E}">
        <p14:creationId xmlns:p14="http://schemas.microsoft.com/office/powerpoint/2010/main" val="4215724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0288848D-5521-004F-8DB9-CD0F51A23FDB}" type="datetimeFigureOut">
              <a:rPr lang="en-US" smtClean="0"/>
              <a:t>8/2/2025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740587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88848D-5521-004F-8DB9-CD0F51A23FDB}"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2503307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0288848D-5521-004F-8DB9-CD0F51A23FDB}" type="datetimeFigureOut">
              <a:rPr lang="en-US" smtClean="0"/>
              <a:t>8/2/2025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1510243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0288848D-5521-004F-8DB9-CD0F51A23FDB}" type="datetimeFigureOut">
              <a:rPr lang="en-US" smtClean="0"/>
              <a:t>8/2/2025</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1585992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0288848D-5521-004F-8DB9-CD0F51A23FDB}" type="datetimeFigureOut">
              <a:rPr lang="en-US" smtClean="0"/>
              <a:t>8/2/2025</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1197950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88848D-5521-004F-8DB9-CD0F51A23FDB}" type="datetimeFigureOut">
              <a:rPr lang="en-US" smtClean="0"/>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3537727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0288848D-5521-004F-8DB9-CD0F51A23FDB}" type="datetimeFigureOut">
              <a:rPr lang="en-US" smtClean="0"/>
              <a:t>8/2/2025</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3214268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88848D-5521-004F-8DB9-CD0F51A23FDB}"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281350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0288848D-5521-004F-8DB9-CD0F51A23FDB}" type="datetimeFigureOut">
              <a:rPr lang="en-US" smtClean="0"/>
              <a:t>8/2/2025</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50823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88848D-5521-004F-8DB9-CD0F51A23FDB}"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1303172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0288848D-5521-004F-8DB9-CD0F51A23FDB}" type="datetimeFigureOut">
              <a:rPr lang="en-US" smtClean="0"/>
              <a:t>8/2/2025</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8077D4B4-FC42-9A47-929C-4875F433B1C8}" type="slidenum">
              <a:rPr lang="en-US" smtClean="0"/>
              <a:t>‹#›</a:t>
            </a:fld>
            <a:endParaRPr lang="en-US"/>
          </a:p>
        </p:txBody>
      </p:sp>
    </p:spTree>
    <p:extLst>
      <p:ext uri="{BB962C8B-B14F-4D97-AF65-F5344CB8AC3E}">
        <p14:creationId xmlns:p14="http://schemas.microsoft.com/office/powerpoint/2010/main" val="1168426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0288848D-5521-004F-8DB9-CD0F51A23FDB}" type="datetimeFigureOut">
              <a:rPr lang="en-US" smtClean="0"/>
              <a:t>8/2/2025</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8077D4B4-FC42-9A47-929C-4875F433B1C8}" type="slidenum">
              <a:rPr lang="en-US" smtClean="0"/>
              <a:t>‹#›</a:t>
            </a:fld>
            <a:endParaRPr lang="en-US"/>
          </a:p>
        </p:txBody>
      </p:sp>
    </p:spTree>
    <p:extLst>
      <p:ext uri="{BB962C8B-B14F-4D97-AF65-F5344CB8AC3E}">
        <p14:creationId xmlns:p14="http://schemas.microsoft.com/office/powerpoint/2010/main" val="768025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doi.org/10.1002/cae.22455" TargetMode="External"/><Relationship Id="rId3" Type="http://schemas.openxmlformats.org/officeDocument/2006/relationships/hyperlink" Target="https://doi.org/10.1007/978-3-031-59100-6_16" TargetMode="External"/><Relationship Id="rId7" Type="http://schemas.openxmlformats.org/officeDocument/2006/relationships/hyperlink" Target="https://doi.org/10.3389/fsurg.2022.862322" TargetMode="External"/><Relationship Id="rId2" Type="http://schemas.openxmlformats.org/officeDocument/2006/relationships/hyperlink" Target="https://doi.org/10.1007/978-3-030-16187-3_1" TargetMode="External"/><Relationship Id="rId1" Type="http://schemas.openxmlformats.org/officeDocument/2006/relationships/slideLayout" Target="../slideLayouts/slideLayout2.xml"/><Relationship Id="rId6" Type="http://schemas.openxmlformats.org/officeDocument/2006/relationships/hyperlink" Target="https://www.diva-portal.org/smash/record.jsf?pid=diva2%3A1673527&amp;dswid=1971" TargetMode="External"/><Relationship Id="rId11" Type="http://schemas.openxmlformats.org/officeDocument/2006/relationships/hyperlink" Target="http://laujci.lautech.edu.ng/index.php/laujci/article/view/124" TargetMode="External"/><Relationship Id="rId5" Type="http://schemas.openxmlformats.org/officeDocument/2006/relationships/hyperlink" Target="https://unitesi.unive.it/handle/20.500.14247/23754" TargetMode="External"/><Relationship Id="rId10" Type="http://schemas.openxmlformats.org/officeDocument/2006/relationships/hyperlink" Target="https://ieeexplore.ieee.org/abstract/document/11005122" TargetMode="External"/><Relationship Id="rId4" Type="http://schemas.openxmlformats.org/officeDocument/2006/relationships/hyperlink" Target="https://ir.uitm.edu.my/id/eprint/113381/" TargetMode="External"/><Relationship Id="rId9" Type="http://schemas.openxmlformats.org/officeDocument/2006/relationships/hyperlink" Target="https://doi.org/10.24908/pceea.2023.1706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4FE5D-8FCD-ED23-A8A7-3AD03976F3AB}"/>
              </a:ext>
            </a:extLst>
          </p:cNvPr>
          <p:cNvSpPr>
            <a:spLocks noGrp="1"/>
          </p:cNvSpPr>
          <p:nvPr>
            <p:ph type="ctrTitle"/>
          </p:nvPr>
        </p:nvSpPr>
        <p:spPr/>
        <p:txBody>
          <a:bodyPr/>
          <a:lstStyle/>
          <a:p>
            <a:r>
              <a:rPr lang="en-US" dirty="0"/>
              <a:t>Blood Donation Software Development Project</a:t>
            </a:r>
          </a:p>
        </p:txBody>
      </p:sp>
    </p:spTree>
    <p:extLst>
      <p:ext uri="{BB962C8B-B14F-4D97-AF65-F5344CB8AC3E}">
        <p14:creationId xmlns:p14="http://schemas.microsoft.com/office/powerpoint/2010/main" val="3589847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CCD4D-4FE4-077E-3B27-402533C8A077}"/>
              </a:ext>
            </a:extLst>
          </p:cNvPr>
          <p:cNvSpPr>
            <a:spLocks noGrp="1"/>
          </p:cNvSpPr>
          <p:nvPr>
            <p:ph type="title"/>
          </p:nvPr>
        </p:nvSpPr>
        <p:spPr/>
        <p:txBody>
          <a:bodyPr/>
          <a:lstStyle/>
          <a:p>
            <a:r>
              <a:rPr lang="en-GB" dirty="0"/>
              <a:t>Team Members</a:t>
            </a:r>
          </a:p>
        </p:txBody>
      </p:sp>
      <p:sp>
        <p:nvSpPr>
          <p:cNvPr id="3" name="Content Placeholder 2">
            <a:extLst>
              <a:ext uri="{FF2B5EF4-FFF2-40B4-BE49-F238E27FC236}">
                <a16:creationId xmlns:a16="http://schemas.microsoft.com/office/drawing/2014/main" id="{6504AA03-583D-6023-06C5-377E143BB63C}"/>
              </a:ext>
            </a:extLst>
          </p:cNvPr>
          <p:cNvSpPr>
            <a:spLocks noGrp="1"/>
          </p:cNvSpPr>
          <p:nvPr>
            <p:ph idx="1"/>
          </p:nvPr>
        </p:nvSpPr>
        <p:spPr/>
        <p:txBody>
          <a:bodyPr/>
          <a:lstStyle/>
          <a:p>
            <a:r>
              <a:rPr lang="en-GB" dirty="0"/>
              <a:t>Madhava Reddy </a:t>
            </a:r>
            <a:r>
              <a:rPr lang="en-GB" dirty="0" err="1"/>
              <a:t>BhumiReddy</a:t>
            </a:r>
            <a:endParaRPr lang="en-GB" dirty="0"/>
          </a:p>
          <a:p>
            <a:r>
              <a:rPr lang="en-GB" dirty="0"/>
              <a:t>Naveen Inala</a:t>
            </a:r>
          </a:p>
          <a:p>
            <a:r>
              <a:rPr lang="en-GB" dirty="0"/>
              <a:t>Karthik </a:t>
            </a:r>
            <a:r>
              <a:rPr lang="en-GB" dirty="0" err="1"/>
              <a:t>Samineni</a:t>
            </a:r>
            <a:endParaRPr lang="en-GB" dirty="0"/>
          </a:p>
          <a:p>
            <a:r>
              <a:rPr lang="en-GB" dirty="0"/>
              <a:t>Chandu </a:t>
            </a:r>
            <a:r>
              <a:rPr lang="en-GB" dirty="0" err="1"/>
              <a:t>mallempati</a:t>
            </a:r>
            <a:endParaRPr lang="en-GB" dirty="0"/>
          </a:p>
          <a:p>
            <a:r>
              <a:rPr lang="en-GB" dirty="0"/>
              <a:t>Uma Ravi </a:t>
            </a:r>
            <a:r>
              <a:rPr lang="en-GB"/>
              <a:t>Teja Chowdary Kandula</a:t>
            </a:r>
            <a:endParaRPr lang="en-GB" dirty="0"/>
          </a:p>
          <a:p>
            <a:endParaRPr lang="en-GB" dirty="0"/>
          </a:p>
        </p:txBody>
      </p:sp>
    </p:spTree>
    <p:extLst>
      <p:ext uri="{BB962C8B-B14F-4D97-AF65-F5344CB8AC3E}">
        <p14:creationId xmlns:p14="http://schemas.microsoft.com/office/powerpoint/2010/main" val="259879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227A-46D9-83DD-D22D-72CC3E8591F4}"/>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17CBC1EE-0736-CABA-3D1B-966E5EA97472}"/>
              </a:ext>
            </a:extLst>
          </p:cNvPr>
          <p:cNvSpPr>
            <a:spLocks noGrp="1"/>
          </p:cNvSpPr>
          <p:nvPr>
            <p:ph idx="1"/>
          </p:nvPr>
        </p:nvSpPr>
        <p:spPr/>
        <p:txBody>
          <a:bodyPr>
            <a:normAutofit fontScale="70000" lnSpcReduction="20000"/>
          </a:bodyPr>
          <a:lstStyle/>
          <a:p>
            <a:r>
              <a:rPr lang="en-US" dirty="0"/>
              <a:t>A complete web solution to simplify blood donation and requests</a:t>
            </a:r>
          </a:p>
          <a:p>
            <a:r>
              <a:rPr lang="en-US" dirty="0"/>
              <a:t>Addresses the need for fast and secure donor-recipient connections</a:t>
            </a:r>
          </a:p>
          <a:p>
            <a:r>
              <a:rPr lang="en-US" dirty="0"/>
              <a:t>Core modules include authentication, registration, request handling, and search</a:t>
            </a:r>
          </a:p>
          <a:p>
            <a:r>
              <a:rPr lang="en-US" dirty="0"/>
              <a:t>Designed with a minimalistic, intuitive UI and responsive templates</a:t>
            </a:r>
          </a:p>
          <a:p>
            <a:r>
              <a:rPr lang="en-US" dirty="0"/>
              <a:t>Built using Flask as backend framework and SQLite for database</a:t>
            </a:r>
          </a:p>
          <a:p>
            <a:r>
              <a:rPr lang="en-US" dirty="0"/>
              <a:t>User authentication system ensures secure access to features</a:t>
            </a:r>
          </a:p>
          <a:p>
            <a:r>
              <a:rPr lang="en-US" dirty="0"/>
              <a:t>Allows logged-in users to register as donors or submit blood requests</a:t>
            </a:r>
          </a:p>
          <a:p>
            <a:r>
              <a:rPr lang="en-US" dirty="0"/>
              <a:t>Admin dashboard provides oversight and moderation tools</a:t>
            </a:r>
          </a:p>
          <a:p>
            <a:r>
              <a:rPr lang="en-US" dirty="0"/>
              <a:t>Emphasizes real-world practicality and social responsibility</a:t>
            </a:r>
          </a:p>
          <a:p>
            <a:r>
              <a:rPr lang="en-US" dirty="0"/>
              <a:t>Focused on efficiency, performance, and simplicity</a:t>
            </a:r>
          </a:p>
          <a:p>
            <a:r>
              <a:rPr lang="en-US" dirty="0"/>
              <a:t>Peer-tested and refined based on feedback and test cases</a:t>
            </a:r>
          </a:p>
          <a:p>
            <a:r>
              <a:rPr lang="en-US" dirty="0"/>
              <a:t>Functional across various device sizes using Bootstrap</a:t>
            </a:r>
          </a:p>
          <a:p>
            <a:r>
              <a:rPr lang="en-US" dirty="0"/>
              <a:t>User-centric design to support emergency use cases</a:t>
            </a:r>
          </a:p>
          <a:p>
            <a:r>
              <a:rPr lang="en-US" dirty="0"/>
              <a:t>Minimal dependencies and simple deployment make it scalable</a:t>
            </a:r>
          </a:p>
          <a:p>
            <a:r>
              <a:rPr lang="en-US" dirty="0"/>
              <a:t>Overall, the project balances function, ethics, and maintainability</a:t>
            </a:r>
          </a:p>
          <a:p>
            <a:endParaRPr lang="en-US" dirty="0"/>
          </a:p>
        </p:txBody>
      </p:sp>
    </p:spTree>
    <p:extLst>
      <p:ext uri="{BB962C8B-B14F-4D97-AF65-F5344CB8AC3E}">
        <p14:creationId xmlns:p14="http://schemas.microsoft.com/office/powerpoint/2010/main" val="3331695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22FEC-F7FA-055A-16BA-64B88930471F}"/>
              </a:ext>
            </a:extLst>
          </p:cNvPr>
          <p:cNvSpPr>
            <a:spLocks noGrp="1"/>
          </p:cNvSpPr>
          <p:nvPr>
            <p:ph type="title"/>
          </p:nvPr>
        </p:nvSpPr>
        <p:spPr/>
        <p:txBody>
          <a:bodyPr/>
          <a:lstStyle/>
          <a:p>
            <a:r>
              <a:rPr lang="en-US" dirty="0"/>
              <a:t>Agile Methodology</a:t>
            </a:r>
          </a:p>
        </p:txBody>
      </p:sp>
      <p:sp>
        <p:nvSpPr>
          <p:cNvPr id="3" name="Content Placeholder 2">
            <a:extLst>
              <a:ext uri="{FF2B5EF4-FFF2-40B4-BE49-F238E27FC236}">
                <a16:creationId xmlns:a16="http://schemas.microsoft.com/office/drawing/2014/main" id="{5F7F4011-8771-FFB5-0663-6994EE8A7A4F}"/>
              </a:ext>
            </a:extLst>
          </p:cNvPr>
          <p:cNvSpPr>
            <a:spLocks noGrp="1"/>
          </p:cNvSpPr>
          <p:nvPr>
            <p:ph idx="1"/>
          </p:nvPr>
        </p:nvSpPr>
        <p:spPr/>
        <p:txBody>
          <a:bodyPr>
            <a:normAutofit fontScale="77500" lnSpcReduction="20000"/>
          </a:bodyPr>
          <a:lstStyle/>
          <a:p>
            <a:r>
              <a:rPr lang="en-US" dirty="0"/>
              <a:t>Followed Scrum-based Agile methodology with sprint planning</a:t>
            </a:r>
          </a:p>
          <a:p>
            <a:r>
              <a:rPr lang="en-US" dirty="0"/>
              <a:t>Team formed clear user stories and task breakdown at project start</a:t>
            </a:r>
          </a:p>
          <a:p>
            <a:r>
              <a:rPr lang="en-US" dirty="0"/>
              <a:t>Used Trello for backlog management and daily task tracking</a:t>
            </a:r>
          </a:p>
          <a:p>
            <a:r>
              <a:rPr lang="en-US" dirty="0"/>
              <a:t>Weekly sprints allowed continuous delivery and focused progress</a:t>
            </a:r>
          </a:p>
          <a:p>
            <a:r>
              <a:rPr lang="en-US" dirty="0"/>
              <a:t>User stories included: user registration, donor match, admin actions</a:t>
            </a:r>
          </a:p>
          <a:p>
            <a:r>
              <a:rPr lang="en-US" dirty="0"/>
              <a:t>Sprint goals refined through weekly stand-ups on Google Meet</a:t>
            </a:r>
          </a:p>
          <a:p>
            <a:r>
              <a:rPr lang="en-US" dirty="0"/>
              <a:t>Used story points to estimate effort for each task</a:t>
            </a:r>
          </a:p>
          <a:p>
            <a:r>
              <a:rPr lang="en-US" dirty="0"/>
              <a:t>Allowed flexibility in handling blockers and reassignment of tasks</a:t>
            </a:r>
          </a:p>
          <a:p>
            <a:r>
              <a:rPr lang="en-US" dirty="0"/>
              <a:t>Frequent internal reviews kept progress on track</a:t>
            </a:r>
          </a:p>
          <a:p>
            <a:r>
              <a:rPr lang="en-US" dirty="0"/>
              <a:t>Encouraged shared ownership and communication</a:t>
            </a:r>
          </a:p>
          <a:p>
            <a:r>
              <a:rPr lang="en-US" dirty="0"/>
              <a:t>Regular documentation updates were maintained for each sprint</a:t>
            </a:r>
          </a:p>
          <a:p>
            <a:r>
              <a:rPr lang="en-US" dirty="0"/>
              <a:t>Peer feedback integrated into sprint retrospectives</a:t>
            </a:r>
          </a:p>
          <a:p>
            <a:r>
              <a:rPr lang="en-US" dirty="0"/>
              <a:t>Agile helped us prioritize functional MVP delivery</a:t>
            </a:r>
          </a:p>
          <a:p>
            <a:r>
              <a:rPr lang="en-US" dirty="0"/>
              <a:t>Each team member led one major feature module</a:t>
            </a:r>
          </a:p>
          <a:p>
            <a:r>
              <a:rPr lang="en-US" dirty="0"/>
              <a:t>Resulted in incremental, testable builds delivered on schedule</a:t>
            </a:r>
          </a:p>
          <a:p>
            <a:endParaRPr lang="en-US" dirty="0"/>
          </a:p>
        </p:txBody>
      </p:sp>
    </p:spTree>
    <p:extLst>
      <p:ext uri="{BB962C8B-B14F-4D97-AF65-F5344CB8AC3E}">
        <p14:creationId xmlns:p14="http://schemas.microsoft.com/office/powerpoint/2010/main" val="78728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501B-9334-4A12-3FD7-39BBF2FDA65D}"/>
              </a:ext>
            </a:extLst>
          </p:cNvPr>
          <p:cNvSpPr>
            <a:spLocks noGrp="1"/>
          </p:cNvSpPr>
          <p:nvPr>
            <p:ph type="title"/>
          </p:nvPr>
        </p:nvSpPr>
        <p:spPr/>
        <p:txBody>
          <a:bodyPr/>
          <a:lstStyle/>
          <a:p>
            <a:r>
              <a:rPr lang="en-US" dirty="0"/>
              <a:t>Sprint Breakdown</a:t>
            </a:r>
          </a:p>
        </p:txBody>
      </p:sp>
      <p:sp>
        <p:nvSpPr>
          <p:cNvPr id="3" name="Content Placeholder 2">
            <a:extLst>
              <a:ext uri="{FF2B5EF4-FFF2-40B4-BE49-F238E27FC236}">
                <a16:creationId xmlns:a16="http://schemas.microsoft.com/office/drawing/2014/main" id="{6D45891C-368D-D053-CABA-66D4B51964F1}"/>
              </a:ext>
            </a:extLst>
          </p:cNvPr>
          <p:cNvSpPr>
            <a:spLocks noGrp="1"/>
          </p:cNvSpPr>
          <p:nvPr>
            <p:ph idx="1"/>
          </p:nvPr>
        </p:nvSpPr>
        <p:spPr/>
        <p:txBody>
          <a:bodyPr>
            <a:normAutofit fontScale="70000" lnSpcReduction="20000"/>
          </a:bodyPr>
          <a:lstStyle/>
          <a:p>
            <a:r>
              <a:rPr lang="en-US" b="1" dirty="0"/>
              <a:t>Sprint 1</a:t>
            </a:r>
            <a:r>
              <a:rPr lang="en-US" dirty="0"/>
              <a:t>: Set up Flask app, database connection, signup/login</a:t>
            </a:r>
          </a:p>
          <a:p>
            <a:r>
              <a:rPr lang="en-US" b="1" dirty="0"/>
              <a:t>Sprint 2</a:t>
            </a:r>
            <a:r>
              <a:rPr lang="en-US" dirty="0"/>
              <a:t>: Created donor registration, blood request form, form validation</a:t>
            </a:r>
          </a:p>
          <a:p>
            <a:r>
              <a:rPr lang="en-US" b="1" dirty="0"/>
              <a:t>Sprint 3</a:t>
            </a:r>
            <a:r>
              <a:rPr lang="en-US" dirty="0"/>
              <a:t>: Implemented donor matching logic and admin dashboard</a:t>
            </a:r>
          </a:p>
          <a:p>
            <a:r>
              <a:rPr lang="en-US" dirty="0"/>
              <a:t>User stories were decomposed into task cards on Trello board</a:t>
            </a:r>
          </a:p>
          <a:p>
            <a:r>
              <a:rPr lang="en-US" dirty="0"/>
              <a:t>Story points assigned for each based on complexity and urgency</a:t>
            </a:r>
          </a:p>
          <a:p>
            <a:r>
              <a:rPr lang="en-US" dirty="0"/>
              <a:t>Tasks distributed based on skill, interest, and availability</a:t>
            </a:r>
          </a:p>
          <a:p>
            <a:r>
              <a:rPr lang="en-US" dirty="0"/>
              <a:t>Sprint planning sessions identified and resolved dependencies</a:t>
            </a:r>
          </a:p>
          <a:p>
            <a:r>
              <a:rPr lang="en-US" dirty="0"/>
              <a:t>Daily standups encouraged accountability and quick debugging</a:t>
            </a:r>
          </a:p>
          <a:p>
            <a:r>
              <a:rPr lang="en-US" dirty="0"/>
              <a:t>Completed work pushed via GitHub branches, reviewed by peers</a:t>
            </a:r>
          </a:p>
          <a:p>
            <a:r>
              <a:rPr lang="en-US" dirty="0"/>
              <a:t>Velocity and progress measured via burndown charts</a:t>
            </a:r>
          </a:p>
          <a:p>
            <a:r>
              <a:rPr lang="en-US" dirty="0"/>
              <a:t>Backlog refined after each sprint retrospective session</a:t>
            </a:r>
          </a:p>
          <a:p>
            <a:r>
              <a:rPr lang="en-US" dirty="0"/>
              <a:t>Adjustments made mid-sprint based on tester feedback</a:t>
            </a:r>
          </a:p>
          <a:p>
            <a:r>
              <a:rPr lang="en-US" dirty="0"/>
              <a:t>Sprint review included internal walkthroughs and bug logging</a:t>
            </a:r>
          </a:p>
          <a:p>
            <a:r>
              <a:rPr lang="en-US" dirty="0"/>
              <a:t>Collaboration during sprints enhanced both code and documentation quality</a:t>
            </a:r>
          </a:p>
          <a:p>
            <a:r>
              <a:rPr lang="en-US" dirty="0"/>
              <a:t>Agile cadence ensured a stable, functional product by final week</a:t>
            </a:r>
          </a:p>
          <a:p>
            <a:endParaRPr lang="en-US" dirty="0"/>
          </a:p>
        </p:txBody>
      </p:sp>
    </p:spTree>
    <p:extLst>
      <p:ext uri="{BB962C8B-B14F-4D97-AF65-F5344CB8AC3E}">
        <p14:creationId xmlns:p14="http://schemas.microsoft.com/office/powerpoint/2010/main" val="1222110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28604-7D09-9C13-5C7F-F77518CD1F0D}"/>
              </a:ext>
            </a:extLst>
          </p:cNvPr>
          <p:cNvSpPr>
            <a:spLocks noGrp="1"/>
          </p:cNvSpPr>
          <p:nvPr>
            <p:ph type="title"/>
          </p:nvPr>
        </p:nvSpPr>
        <p:spPr/>
        <p:txBody>
          <a:bodyPr/>
          <a:lstStyle/>
          <a:p>
            <a:r>
              <a:rPr lang="en-US" dirty="0"/>
              <a:t>Tools &amp; Technologies</a:t>
            </a:r>
          </a:p>
        </p:txBody>
      </p:sp>
      <p:sp>
        <p:nvSpPr>
          <p:cNvPr id="3" name="Content Placeholder 2">
            <a:extLst>
              <a:ext uri="{FF2B5EF4-FFF2-40B4-BE49-F238E27FC236}">
                <a16:creationId xmlns:a16="http://schemas.microsoft.com/office/drawing/2014/main" id="{83AE1F42-D362-5738-942E-DF9CE2D4FFA1}"/>
              </a:ext>
            </a:extLst>
          </p:cNvPr>
          <p:cNvSpPr>
            <a:spLocks noGrp="1"/>
          </p:cNvSpPr>
          <p:nvPr>
            <p:ph idx="1"/>
          </p:nvPr>
        </p:nvSpPr>
        <p:spPr>
          <a:xfrm>
            <a:off x="5021496" y="804689"/>
            <a:ext cx="6281873" cy="5248622"/>
          </a:xfrm>
        </p:spPr>
        <p:txBody>
          <a:bodyPr>
            <a:normAutofit fontScale="77500" lnSpcReduction="20000"/>
          </a:bodyPr>
          <a:lstStyle/>
          <a:p>
            <a:r>
              <a:rPr lang="en-US" b="1" dirty="0"/>
              <a:t>Flask (Python)</a:t>
            </a:r>
            <a:r>
              <a:rPr lang="en-US" dirty="0"/>
              <a:t> used for backend route management and logic</a:t>
            </a:r>
          </a:p>
          <a:p>
            <a:r>
              <a:rPr lang="en-US" b="1" dirty="0"/>
              <a:t>SQLite</a:t>
            </a:r>
            <a:r>
              <a:rPr lang="en-US" dirty="0"/>
              <a:t> selected for lightweight, file-based data storage</a:t>
            </a:r>
          </a:p>
          <a:p>
            <a:r>
              <a:rPr lang="en-US" b="1" dirty="0"/>
              <a:t>HTML, CSS, Bootstrap</a:t>
            </a:r>
            <a:r>
              <a:rPr lang="en-US" dirty="0"/>
              <a:t> for responsive and user-friendly frontend</a:t>
            </a:r>
          </a:p>
          <a:p>
            <a:r>
              <a:rPr lang="en-US" b="1" dirty="0"/>
              <a:t>Git and GitHub</a:t>
            </a:r>
            <a:r>
              <a:rPr lang="en-US" dirty="0"/>
              <a:t> used for version control and collaboration</a:t>
            </a:r>
          </a:p>
          <a:p>
            <a:r>
              <a:rPr lang="en-US" b="1" dirty="0"/>
              <a:t>Trello</a:t>
            </a:r>
            <a:r>
              <a:rPr lang="en-US" dirty="0"/>
              <a:t> enabled real-time task tracking and agile planning</a:t>
            </a:r>
          </a:p>
          <a:p>
            <a:r>
              <a:rPr lang="en-US" dirty="0"/>
              <a:t>Google Meet used for virtual meetings and daily standups</a:t>
            </a:r>
          </a:p>
          <a:p>
            <a:r>
              <a:rPr lang="en-US" dirty="0"/>
              <a:t>GitHub issues used to manage bugs and enhancements</a:t>
            </a:r>
          </a:p>
          <a:p>
            <a:r>
              <a:rPr lang="en-US" dirty="0"/>
              <a:t>Code shared via branches, reviewed and merged after testing</a:t>
            </a:r>
          </a:p>
          <a:p>
            <a:r>
              <a:rPr lang="en-US" dirty="0"/>
              <a:t>Templates extended using Flask’s Jinja templating engine</a:t>
            </a:r>
          </a:p>
          <a:p>
            <a:r>
              <a:rPr lang="en-US" dirty="0"/>
              <a:t>CSS styles reused across components via a central stylesheet</a:t>
            </a:r>
          </a:p>
          <a:p>
            <a:r>
              <a:rPr lang="en-US" dirty="0"/>
              <a:t>Bootstrap grid system made layout mobile-friendly</a:t>
            </a:r>
          </a:p>
          <a:p>
            <a:r>
              <a:rPr lang="en-US" dirty="0"/>
              <a:t>Flash messages used for dynamic feedback (success/errors)</a:t>
            </a:r>
          </a:p>
          <a:p>
            <a:r>
              <a:rPr lang="en-US" dirty="0"/>
              <a:t>Flask sessions implemented for secure login/admin routing</a:t>
            </a:r>
          </a:p>
          <a:p>
            <a:r>
              <a:rPr lang="en-US" dirty="0"/>
              <a:t>Browser </a:t>
            </a:r>
            <a:r>
              <a:rPr lang="en-US" dirty="0" err="1"/>
              <a:t>DevTools</a:t>
            </a:r>
            <a:r>
              <a:rPr lang="en-US" dirty="0"/>
              <a:t> and SQLite Browser supported testing</a:t>
            </a:r>
          </a:p>
          <a:p>
            <a:r>
              <a:rPr lang="en-US" dirty="0"/>
              <a:t>Simple tech stack made project easy to deploy and maintain</a:t>
            </a:r>
          </a:p>
          <a:p>
            <a:endParaRPr lang="en-US" dirty="0"/>
          </a:p>
        </p:txBody>
      </p:sp>
    </p:spTree>
    <p:extLst>
      <p:ext uri="{BB962C8B-B14F-4D97-AF65-F5344CB8AC3E}">
        <p14:creationId xmlns:p14="http://schemas.microsoft.com/office/powerpoint/2010/main" val="3309626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42C69-D303-E10B-0E33-3F2CB9A17299}"/>
              </a:ext>
            </a:extLst>
          </p:cNvPr>
          <p:cNvSpPr>
            <a:spLocks noGrp="1"/>
          </p:cNvSpPr>
          <p:nvPr>
            <p:ph type="title"/>
          </p:nvPr>
        </p:nvSpPr>
        <p:spPr/>
        <p:txBody>
          <a:bodyPr/>
          <a:lstStyle/>
          <a:p>
            <a:r>
              <a:rPr lang="en-US" dirty="0"/>
              <a:t>System Architecture</a:t>
            </a:r>
          </a:p>
        </p:txBody>
      </p:sp>
      <p:sp>
        <p:nvSpPr>
          <p:cNvPr id="3" name="Content Placeholder 2">
            <a:extLst>
              <a:ext uri="{FF2B5EF4-FFF2-40B4-BE49-F238E27FC236}">
                <a16:creationId xmlns:a16="http://schemas.microsoft.com/office/drawing/2014/main" id="{C83395E4-F2D0-B593-997C-794704876E78}"/>
              </a:ext>
            </a:extLst>
          </p:cNvPr>
          <p:cNvSpPr>
            <a:spLocks noGrp="1"/>
          </p:cNvSpPr>
          <p:nvPr>
            <p:ph idx="1"/>
          </p:nvPr>
        </p:nvSpPr>
        <p:spPr/>
        <p:txBody>
          <a:bodyPr>
            <a:normAutofit fontScale="70000" lnSpcReduction="20000"/>
          </a:bodyPr>
          <a:lstStyle/>
          <a:p>
            <a:r>
              <a:rPr lang="en-US" dirty="0"/>
              <a:t>The application follows the MVC (Model-View-Controller) design</a:t>
            </a:r>
          </a:p>
          <a:p>
            <a:r>
              <a:rPr lang="en-US" b="1" dirty="0"/>
              <a:t>Model</a:t>
            </a:r>
            <a:r>
              <a:rPr lang="en-US" dirty="0"/>
              <a:t>: SQLite database with normalized tables (users, donors, requests)</a:t>
            </a:r>
          </a:p>
          <a:p>
            <a:r>
              <a:rPr lang="en-US" b="1" dirty="0"/>
              <a:t>View</a:t>
            </a:r>
            <a:r>
              <a:rPr lang="en-US" dirty="0"/>
              <a:t>: HTML templates extended from </a:t>
            </a:r>
            <a:r>
              <a:rPr lang="en-US" dirty="0" err="1"/>
              <a:t>layout.html</a:t>
            </a:r>
            <a:r>
              <a:rPr lang="en-US" dirty="0"/>
              <a:t> using Jinja2</a:t>
            </a:r>
          </a:p>
          <a:p>
            <a:r>
              <a:rPr lang="en-US" b="1" dirty="0"/>
              <a:t>Controller</a:t>
            </a:r>
            <a:r>
              <a:rPr lang="en-US" dirty="0"/>
              <a:t>: Flask routes that handle HTTP requests and session logic</a:t>
            </a:r>
          </a:p>
          <a:p>
            <a:r>
              <a:rPr lang="en-US" dirty="0"/>
              <a:t>Authentication guarded routes using Flask session checks</a:t>
            </a:r>
          </a:p>
          <a:p>
            <a:r>
              <a:rPr lang="en-US" dirty="0" err="1"/>
              <a:t>get_db_connection</a:t>
            </a:r>
            <a:r>
              <a:rPr lang="en-US" dirty="0"/>
              <a:t>() centralized DB access for reusability</a:t>
            </a:r>
          </a:p>
          <a:p>
            <a:r>
              <a:rPr lang="en-US" dirty="0"/>
              <a:t>Templates dynamically rendered based on user data</a:t>
            </a:r>
          </a:p>
          <a:p>
            <a:r>
              <a:rPr lang="en-US" dirty="0"/>
              <a:t>Admin dashboard and donor search used SQL JOINs</a:t>
            </a:r>
          </a:p>
          <a:p>
            <a:r>
              <a:rPr lang="en-US" dirty="0"/>
              <a:t>HTML views designed to display contextual feedback</a:t>
            </a:r>
          </a:p>
          <a:p>
            <a:r>
              <a:rPr lang="en-US" dirty="0"/>
              <a:t>Static assets (CSS, images) served from /static folder</a:t>
            </a:r>
          </a:p>
          <a:p>
            <a:r>
              <a:rPr lang="en-US" dirty="0"/>
              <a:t>Data integrity ensured with form validations and foreign keys</a:t>
            </a:r>
          </a:p>
          <a:p>
            <a:r>
              <a:rPr lang="en-US" dirty="0"/>
              <a:t>Lightweight and modular, supporting easy testing and refactoring</a:t>
            </a:r>
          </a:p>
          <a:p>
            <a:r>
              <a:rPr lang="en-US" dirty="0"/>
              <a:t>Scalability possible with upgrade to PostgreSQL or MySQL</a:t>
            </a:r>
          </a:p>
          <a:p>
            <a:r>
              <a:rPr lang="en-US" dirty="0"/>
              <a:t>Clean separation of concerns ensured maintainable code</a:t>
            </a:r>
          </a:p>
          <a:p>
            <a:r>
              <a:rPr lang="en-US" dirty="0"/>
              <a:t>Logical route structure improves future enhancements and debugging</a:t>
            </a:r>
          </a:p>
          <a:p>
            <a:endParaRPr lang="en-US" dirty="0"/>
          </a:p>
        </p:txBody>
      </p:sp>
    </p:spTree>
    <p:extLst>
      <p:ext uri="{BB962C8B-B14F-4D97-AF65-F5344CB8AC3E}">
        <p14:creationId xmlns:p14="http://schemas.microsoft.com/office/powerpoint/2010/main" val="3353105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399E-A387-9D2C-D136-CEF42F31BF67}"/>
              </a:ext>
            </a:extLst>
          </p:cNvPr>
          <p:cNvSpPr>
            <a:spLocks noGrp="1"/>
          </p:cNvSpPr>
          <p:nvPr>
            <p:ph type="title"/>
          </p:nvPr>
        </p:nvSpPr>
        <p:spPr/>
        <p:txBody>
          <a:bodyPr/>
          <a:lstStyle/>
          <a:p>
            <a:r>
              <a:rPr lang="en-US" dirty="0"/>
              <a:t>User Authentication</a:t>
            </a:r>
          </a:p>
        </p:txBody>
      </p:sp>
      <p:sp>
        <p:nvSpPr>
          <p:cNvPr id="3" name="Content Placeholder 2">
            <a:extLst>
              <a:ext uri="{FF2B5EF4-FFF2-40B4-BE49-F238E27FC236}">
                <a16:creationId xmlns:a16="http://schemas.microsoft.com/office/drawing/2014/main" id="{68AF416B-F42B-6253-A3D3-F15831FA28FF}"/>
              </a:ext>
            </a:extLst>
          </p:cNvPr>
          <p:cNvSpPr>
            <a:spLocks noGrp="1"/>
          </p:cNvSpPr>
          <p:nvPr>
            <p:ph idx="1"/>
          </p:nvPr>
        </p:nvSpPr>
        <p:spPr>
          <a:xfrm>
            <a:off x="6096000" y="179295"/>
            <a:ext cx="4706471" cy="4258234"/>
          </a:xfrm>
        </p:spPr>
        <p:txBody>
          <a:bodyPr>
            <a:normAutofit fontScale="92500" lnSpcReduction="10000"/>
          </a:bodyPr>
          <a:lstStyle/>
          <a:p>
            <a:r>
              <a:rPr lang="en-US" sz="1400" dirty="0"/>
              <a:t>Secure login/signup implemented using Flask and </a:t>
            </a:r>
            <a:r>
              <a:rPr lang="en-US" sz="1400" dirty="0" err="1"/>
              <a:t>bcrypt</a:t>
            </a:r>
            <a:endParaRPr lang="en-US" sz="1400" dirty="0"/>
          </a:p>
          <a:p>
            <a:r>
              <a:rPr lang="en-US" sz="1400" dirty="0"/>
              <a:t>Passwords encrypted before storing in database</a:t>
            </a:r>
          </a:p>
          <a:p>
            <a:r>
              <a:rPr lang="en-US" sz="1400" dirty="0"/>
              <a:t>Session variables used to manage login state securely</a:t>
            </a:r>
          </a:p>
          <a:p>
            <a:r>
              <a:rPr lang="en-US" sz="1400" dirty="0"/>
              <a:t>Signup route validates email uniqueness, handles exceptions</a:t>
            </a:r>
          </a:p>
          <a:p>
            <a:r>
              <a:rPr lang="en-US" sz="1400" dirty="0"/>
              <a:t>Login route checks hashed passwords with </a:t>
            </a:r>
            <a:r>
              <a:rPr lang="en-US" sz="1400" dirty="0" err="1"/>
              <a:t>bcrypt</a:t>
            </a:r>
            <a:r>
              <a:rPr lang="en-US" sz="1400" dirty="0"/>
              <a:t> checker</a:t>
            </a:r>
          </a:p>
          <a:p>
            <a:r>
              <a:rPr lang="en-US" sz="1400" dirty="0"/>
              <a:t>Flash messages provide feedback: success, invalid credentials, etc.</a:t>
            </a:r>
          </a:p>
          <a:p>
            <a:r>
              <a:rPr lang="en-US" sz="1400" dirty="0"/>
              <a:t>Unauthorized access blocked by redirecting to login page</a:t>
            </a:r>
          </a:p>
          <a:p>
            <a:r>
              <a:rPr lang="en-US" sz="1400" dirty="0"/>
              <a:t>Session termination on logout ensures privacy and protection</a:t>
            </a:r>
          </a:p>
          <a:p>
            <a:endParaRPr lang="en-US" sz="1400" dirty="0"/>
          </a:p>
        </p:txBody>
      </p:sp>
      <p:pic>
        <p:nvPicPr>
          <p:cNvPr id="5" name="Picture 4">
            <a:extLst>
              <a:ext uri="{FF2B5EF4-FFF2-40B4-BE49-F238E27FC236}">
                <a16:creationId xmlns:a16="http://schemas.microsoft.com/office/drawing/2014/main" id="{FC35A2D7-8308-855B-2463-CD4C3EE8DC38}"/>
              </a:ext>
            </a:extLst>
          </p:cNvPr>
          <p:cNvPicPr>
            <a:picLocks noChangeAspect="1"/>
          </p:cNvPicPr>
          <p:nvPr/>
        </p:nvPicPr>
        <p:blipFill>
          <a:blip r:embed="rId3"/>
          <a:stretch>
            <a:fillRect/>
          </a:stretch>
        </p:blipFill>
        <p:spPr>
          <a:xfrm>
            <a:off x="6370712" y="4145898"/>
            <a:ext cx="4315218" cy="2443274"/>
          </a:xfrm>
          <a:prstGeom prst="rect">
            <a:avLst/>
          </a:prstGeom>
        </p:spPr>
      </p:pic>
    </p:spTree>
    <p:extLst>
      <p:ext uri="{BB962C8B-B14F-4D97-AF65-F5344CB8AC3E}">
        <p14:creationId xmlns:p14="http://schemas.microsoft.com/office/powerpoint/2010/main" val="1761525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1091-3A30-9314-DBA9-453CBF3C6E81}"/>
              </a:ext>
            </a:extLst>
          </p:cNvPr>
          <p:cNvSpPr>
            <a:spLocks noGrp="1"/>
          </p:cNvSpPr>
          <p:nvPr>
            <p:ph type="title"/>
          </p:nvPr>
        </p:nvSpPr>
        <p:spPr/>
        <p:txBody>
          <a:bodyPr/>
          <a:lstStyle/>
          <a:p>
            <a:r>
              <a:rPr lang="en-US" dirty="0"/>
              <a:t>Donor Registration</a:t>
            </a:r>
          </a:p>
        </p:txBody>
      </p:sp>
      <p:sp>
        <p:nvSpPr>
          <p:cNvPr id="3" name="Content Placeholder 2">
            <a:extLst>
              <a:ext uri="{FF2B5EF4-FFF2-40B4-BE49-F238E27FC236}">
                <a16:creationId xmlns:a16="http://schemas.microsoft.com/office/drawing/2014/main" id="{24498598-70C2-F838-0214-F41D1C974D54}"/>
              </a:ext>
            </a:extLst>
          </p:cNvPr>
          <p:cNvSpPr>
            <a:spLocks noGrp="1"/>
          </p:cNvSpPr>
          <p:nvPr>
            <p:ph idx="1"/>
          </p:nvPr>
        </p:nvSpPr>
        <p:spPr>
          <a:xfrm>
            <a:off x="6196273" y="211527"/>
            <a:ext cx="5107096" cy="4276796"/>
          </a:xfrm>
        </p:spPr>
        <p:txBody>
          <a:bodyPr>
            <a:normAutofit/>
          </a:bodyPr>
          <a:lstStyle/>
          <a:p>
            <a:r>
              <a:rPr lang="en-US" sz="1400" dirty="0"/>
              <a:t>Only logged-in users can access donor registration form</a:t>
            </a:r>
          </a:p>
          <a:p>
            <a:r>
              <a:rPr lang="en-US" sz="1400" dirty="0"/>
              <a:t>Form captures: blood group, city, and phone number</a:t>
            </a:r>
          </a:p>
          <a:p>
            <a:r>
              <a:rPr lang="en-US" sz="1400" dirty="0"/>
              <a:t>Inputs validated both client-side and server-side</a:t>
            </a:r>
          </a:p>
          <a:p>
            <a:r>
              <a:rPr lang="en-US" sz="1400" dirty="0"/>
              <a:t>Data stored in donors table and linked to user ID</a:t>
            </a:r>
          </a:p>
          <a:p>
            <a:r>
              <a:rPr lang="en-US" sz="1400" dirty="0"/>
              <a:t>Simplistic design improves usability under stressful conditions</a:t>
            </a:r>
          </a:p>
          <a:p>
            <a:r>
              <a:rPr lang="en-US" sz="1400" dirty="0"/>
              <a:t>Flash feedback confirms successful registration</a:t>
            </a:r>
          </a:p>
          <a:p>
            <a:r>
              <a:rPr lang="en-US" sz="1400" dirty="0"/>
              <a:t>Bootstrap form ensures responsive input fields</a:t>
            </a:r>
          </a:p>
          <a:p>
            <a:r>
              <a:rPr lang="en-US" sz="1400" dirty="0"/>
              <a:t>Centralized route handles both GET and POST requests</a:t>
            </a:r>
          </a:p>
          <a:p>
            <a:endParaRPr lang="en-US" sz="1400" dirty="0"/>
          </a:p>
        </p:txBody>
      </p:sp>
      <p:pic>
        <p:nvPicPr>
          <p:cNvPr id="5" name="Picture 4">
            <a:extLst>
              <a:ext uri="{FF2B5EF4-FFF2-40B4-BE49-F238E27FC236}">
                <a16:creationId xmlns:a16="http://schemas.microsoft.com/office/drawing/2014/main" id="{29C6021F-FCA0-E856-1BFE-4286C27BE611}"/>
              </a:ext>
            </a:extLst>
          </p:cNvPr>
          <p:cNvPicPr>
            <a:picLocks noChangeAspect="1"/>
          </p:cNvPicPr>
          <p:nvPr/>
        </p:nvPicPr>
        <p:blipFill>
          <a:blip r:embed="rId3"/>
          <a:stretch>
            <a:fillRect/>
          </a:stretch>
        </p:blipFill>
        <p:spPr>
          <a:xfrm>
            <a:off x="6401516" y="4012135"/>
            <a:ext cx="4696610" cy="2644587"/>
          </a:xfrm>
          <a:prstGeom prst="rect">
            <a:avLst/>
          </a:prstGeom>
        </p:spPr>
      </p:pic>
    </p:spTree>
    <p:extLst>
      <p:ext uri="{BB962C8B-B14F-4D97-AF65-F5344CB8AC3E}">
        <p14:creationId xmlns:p14="http://schemas.microsoft.com/office/powerpoint/2010/main" val="3135172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5297D-10E8-E1E3-E151-C2E24F2D1500}"/>
              </a:ext>
            </a:extLst>
          </p:cNvPr>
          <p:cNvSpPr>
            <a:spLocks noGrp="1"/>
          </p:cNvSpPr>
          <p:nvPr>
            <p:ph type="title"/>
          </p:nvPr>
        </p:nvSpPr>
        <p:spPr>
          <a:xfrm>
            <a:off x="899257" y="1946513"/>
            <a:ext cx="3498979" cy="2456442"/>
          </a:xfrm>
        </p:spPr>
        <p:txBody>
          <a:bodyPr/>
          <a:lstStyle/>
          <a:p>
            <a:r>
              <a:rPr lang="en-US" dirty="0"/>
              <a:t>Blood Request Feature</a:t>
            </a:r>
          </a:p>
        </p:txBody>
      </p:sp>
      <p:sp>
        <p:nvSpPr>
          <p:cNvPr id="3" name="Content Placeholder 2">
            <a:extLst>
              <a:ext uri="{FF2B5EF4-FFF2-40B4-BE49-F238E27FC236}">
                <a16:creationId xmlns:a16="http://schemas.microsoft.com/office/drawing/2014/main" id="{84AF4B58-3B0F-E3E6-A422-B8DED6FF5ABC}"/>
              </a:ext>
            </a:extLst>
          </p:cNvPr>
          <p:cNvSpPr>
            <a:spLocks noGrp="1"/>
          </p:cNvSpPr>
          <p:nvPr>
            <p:ph idx="1"/>
          </p:nvPr>
        </p:nvSpPr>
        <p:spPr>
          <a:xfrm>
            <a:off x="5145340" y="64980"/>
            <a:ext cx="6281873" cy="5248622"/>
          </a:xfrm>
        </p:spPr>
        <p:txBody>
          <a:bodyPr>
            <a:normAutofit/>
          </a:bodyPr>
          <a:lstStyle/>
          <a:p>
            <a:r>
              <a:rPr lang="en-US" sz="1400" dirty="0"/>
              <a:t>Allows logged-in users to submit blood requests for emergencies</a:t>
            </a:r>
          </a:p>
          <a:p>
            <a:r>
              <a:rPr lang="en-US" sz="1400" dirty="0"/>
              <a:t>Captures: blood group, contact phone, city, reason</a:t>
            </a:r>
          </a:p>
          <a:p>
            <a:r>
              <a:rPr lang="en-US" sz="1400" dirty="0"/>
              <a:t>Stored in requests table with user ID link</a:t>
            </a:r>
          </a:p>
          <a:p>
            <a:r>
              <a:rPr lang="en-US" sz="1400" dirty="0"/>
              <a:t>Used later in donor match queries for reverse lookup</a:t>
            </a:r>
          </a:p>
          <a:p>
            <a:r>
              <a:rPr lang="en-US" sz="1400" dirty="0"/>
              <a:t>Form structured with clear input labels and tooltips</a:t>
            </a:r>
          </a:p>
          <a:p>
            <a:r>
              <a:rPr lang="en-US" sz="1400" dirty="0"/>
              <a:t>Feedback message confirms submission or highlights issues</a:t>
            </a:r>
          </a:p>
          <a:p>
            <a:r>
              <a:rPr lang="en-US" sz="1400" dirty="0"/>
              <a:t>Enforced required fields for completeness and consistency</a:t>
            </a:r>
          </a:p>
          <a:p>
            <a:r>
              <a:rPr lang="en-US" sz="1400" dirty="0"/>
              <a:t>Validated using HTML5 and Python backend logic</a:t>
            </a:r>
          </a:p>
        </p:txBody>
      </p:sp>
      <p:pic>
        <p:nvPicPr>
          <p:cNvPr id="7" name="Picture 6">
            <a:extLst>
              <a:ext uri="{FF2B5EF4-FFF2-40B4-BE49-F238E27FC236}">
                <a16:creationId xmlns:a16="http://schemas.microsoft.com/office/drawing/2014/main" id="{58835D56-DA16-CC81-025D-F6DAD9CB71C0}"/>
              </a:ext>
            </a:extLst>
          </p:cNvPr>
          <p:cNvPicPr>
            <a:picLocks noChangeAspect="1"/>
          </p:cNvPicPr>
          <p:nvPr/>
        </p:nvPicPr>
        <p:blipFill>
          <a:blip r:embed="rId3"/>
          <a:stretch>
            <a:fillRect/>
          </a:stretch>
        </p:blipFill>
        <p:spPr>
          <a:xfrm>
            <a:off x="5306899" y="4308511"/>
            <a:ext cx="6120314" cy="2484509"/>
          </a:xfrm>
          <a:prstGeom prst="rect">
            <a:avLst/>
          </a:prstGeom>
        </p:spPr>
      </p:pic>
    </p:spTree>
    <p:extLst>
      <p:ext uri="{BB962C8B-B14F-4D97-AF65-F5344CB8AC3E}">
        <p14:creationId xmlns:p14="http://schemas.microsoft.com/office/powerpoint/2010/main" val="2848155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4A31C-757C-BA0B-6B35-C42011AD3285}"/>
              </a:ext>
            </a:extLst>
          </p:cNvPr>
          <p:cNvSpPr>
            <a:spLocks noGrp="1"/>
          </p:cNvSpPr>
          <p:nvPr>
            <p:ph type="title"/>
          </p:nvPr>
        </p:nvSpPr>
        <p:spPr/>
        <p:txBody>
          <a:bodyPr/>
          <a:lstStyle/>
          <a:p>
            <a:r>
              <a:rPr lang="en-US" dirty="0"/>
              <a:t>Donor Matching</a:t>
            </a:r>
          </a:p>
        </p:txBody>
      </p:sp>
      <p:sp>
        <p:nvSpPr>
          <p:cNvPr id="3" name="Content Placeholder 2">
            <a:extLst>
              <a:ext uri="{FF2B5EF4-FFF2-40B4-BE49-F238E27FC236}">
                <a16:creationId xmlns:a16="http://schemas.microsoft.com/office/drawing/2014/main" id="{377E2FC1-579B-294E-1FE2-1663FF35E967}"/>
              </a:ext>
            </a:extLst>
          </p:cNvPr>
          <p:cNvSpPr>
            <a:spLocks noGrp="1"/>
          </p:cNvSpPr>
          <p:nvPr>
            <p:ph idx="1"/>
          </p:nvPr>
        </p:nvSpPr>
        <p:spPr/>
        <p:txBody>
          <a:bodyPr>
            <a:normAutofit fontScale="77500" lnSpcReduction="20000"/>
          </a:bodyPr>
          <a:lstStyle/>
          <a:p>
            <a:r>
              <a:rPr lang="en-US" dirty="0"/>
              <a:t>Users can search for matching donors by city and blood group</a:t>
            </a:r>
          </a:p>
          <a:p>
            <a:r>
              <a:rPr lang="en-US" dirty="0"/>
              <a:t>Backend performs JOIN on donors and users tables</a:t>
            </a:r>
          </a:p>
          <a:p>
            <a:r>
              <a:rPr lang="en-US" dirty="0"/>
              <a:t>Secure parameterized queries prevent SQL injection</a:t>
            </a:r>
          </a:p>
          <a:p>
            <a:r>
              <a:rPr lang="en-US" dirty="0"/>
              <a:t>Matching results displayed in styled, scrollable table</a:t>
            </a:r>
          </a:p>
          <a:p>
            <a:r>
              <a:rPr lang="en-US" dirty="0"/>
              <a:t>Flash messages shown for zero-result queries</a:t>
            </a:r>
          </a:p>
          <a:p>
            <a:r>
              <a:rPr lang="en-US" dirty="0"/>
              <a:t>Enables life-saving decision-making with real-time data</a:t>
            </a:r>
          </a:p>
          <a:p>
            <a:r>
              <a:rPr lang="en-US" dirty="0"/>
              <a:t>Only accessible to logged-in users to ensure privacy</a:t>
            </a:r>
          </a:p>
          <a:p>
            <a:r>
              <a:rPr lang="en-US" dirty="0"/>
              <a:t>View shows donor name, email, phone, city, and blood type</a:t>
            </a:r>
          </a:p>
          <a:p>
            <a:r>
              <a:rPr lang="en-US" dirty="0"/>
              <a:t>Optimized for speed and efficient lookup</a:t>
            </a:r>
          </a:p>
          <a:p>
            <a:r>
              <a:rPr lang="en-US" dirty="0"/>
              <a:t>Can be extended with donor availability status</a:t>
            </a:r>
          </a:p>
          <a:p>
            <a:r>
              <a:rPr lang="en-US" dirty="0"/>
              <a:t>Implemented route logic clean and reusable</a:t>
            </a:r>
          </a:p>
          <a:p>
            <a:r>
              <a:rPr lang="en-US" dirty="0"/>
              <a:t>Prevents performance lag using indexed queries</a:t>
            </a:r>
          </a:p>
          <a:p>
            <a:r>
              <a:rPr lang="en-US" dirty="0"/>
              <a:t>Designed with accessibility (font sizes, contrast) in mind</a:t>
            </a:r>
          </a:p>
          <a:p>
            <a:r>
              <a:rPr lang="en-US" dirty="0"/>
              <a:t>Encourages community-based peer support</a:t>
            </a:r>
          </a:p>
          <a:p>
            <a:r>
              <a:rPr lang="en-US" dirty="0"/>
              <a:t>A central component of the entire web application</a:t>
            </a:r>
          </a:p>
          <a:p>
            <a:endParaRPr lang="en-US" dirty="0"/>
          </a:p>
        </p:txBody>
      </p:sp>
    </p:spTree>
    <p:extLst>
      <p:ext uri="{BB962C8B-B14F-4D97-AF65-F5344CB8AC3E}">
        <p14:creationId xmlns:p14="http://schemas.microsoft.com/office/powerpoint/2010/main" val="3802314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F4B4-1482-C1D1-E347-5CF9D41D45D4}"/>
              </a:ext>
            </a:extLst>
          </p:cNvPr>
          <p:cNvSpPr>
            <a:spLocks noGrp="1"/>
          </p:cNvSpPr>
          <p:nvPr>
            <p:ph type="title"/>
          </p:nvPr>
        </p:nvSpPr>
        <p:spPr/>
        <p:txBody>
          <a:bodyPr/>
          <a:lstStyle/>
          <a:p>
            <a:r>
              <a:rPr lang="en-US" dirty="0"/>
              <a:t>Admin Dashboard</a:t>
            </a:r>
          </a:p>
        </p:txBody>
      </p:sp>
      <p:sp>
        <p:nvSpPr>
          <p:cNvPr id="3" name="Content Placeholder 2">
            <a:extLst>
              <a:ext uri="{FF2B5EF4-FFF2-40B4-BE49-F238E27FC236}">
                <a16:creationId xmlns:a16="http://schemas.microsoft.com/office/drawing/2014/main" id="{95AA3BC8-FB08-6E1E-AEA4-855C1163D003}"/>
              </a:ext>
            </a:extLst>
          </p:cNvPr>
          <p:cNvSpPr>
            <a:spLocks noGrp="1"/>
          </p:cNvSpPr>
          <p:nvPr>
            <p:ph idx="1"/>
          </p:nvPr>
        </p:nvSpPr>
        <p:spPr>
          <a:xfrm>
            <a:off x="5925670" y="-66379"/>
            <a:ext cx="5279087" cy="4832608"/>
          </a:xfrm>
        </p:spPr>
        <p:txBody>
          <a:bodyPr>
            <a:normAutofit/>
          </a:bodyPr>
          <a:lstStyle/>
          <a:p>
            <a:r>
              <a:rPr lang="en-US" sz="1400" dirty="0"/>
              <a:t>Admin-only section with access control via secure login</a:t>
            </a:r>
          </a:p>
          <a:p>
            <a:r>
              <a:rPr lang="en-US" sz="1400" dirty="0"/>
              <a:t>Admin can view all registered users in a formatted table</a:t>
            </a:r>
          </a:p>
          <a:p>
            <a:r>
              <a:rPr lang="en-US" sz="1400" dirty="0"/>
              <a:t>Option to delete suspicious or inactive accounts</a:t>
            </a:r>
          </a:p>
          <a:p>
            <a:r>
              <a:rPr lang="en-US" sz="1400" dirty="0"/>
              <a:t>Route protected by session check: only </a:t>
            </a:r>
            <a:r>
              <a:rPr lang="en-US" sz="1400" dirty="0" err="1"/>
              <a:t>admin_logged_in</a:t>
            </a:r>
            <a:r>
              <a:rPr lang="en-US" sz="1400" dirty="0"/>
              <a:t> allowed</a:t>
            </a:r>
          </a:p>
          <a:p>
            <a:r>
              <a:rPr lang="en-US" sz="1400" dirty="0"/>
              <a:t>Deletion is confirmed via a browser prompt (JavaScript confirm())</a:t>
            </a:r>
          </a:p>
          <a:p>
            <a:r>
              <a:rPr lang="en-US" sz="1400" dirty="0"/>
              <a:t>Enhances system safety and user trust</a:t>
            </a:r>
          </a:p>
          <a:p>
            <a:r>
              <a:rPr lang="en-US" sz="1400" dirty="0"/>
              <a:t>Admin dashboard uses Bootstrap table with responsive design</a:t>
            </a:r>
          </a:p>
          <a:p>
            <a:endParaRPr lang="en-US" sz="1400" dirty="0"/>
          </a:p>
        </p:txBody>
      </p:sp>
      <p:pic>
        <p:nvPicPr>
          <p:cNvPr id="7" name="Picture 6">
            <a:extLst>
              <a:ext uri="{FF2B5EF4-FFF2-40B4-BE49-F238E27FC236}">
                <a16:creationId xmlns:a16="http://schemas.microsoft.com/office/drawing/2014/main" id="{BD261147-56D1-7247-21C5-C5DDB9D3ACE1}"/>
              </a:ext>
            </a:extLst>
          </p:cNvPr>
          <p:cNvPicPr>
            <a:picLocks noChangeAspect="1"/>
          </p:cNvPicPr>
          <p:nvPr/>
        </p:nvPicPr>
        <p:blipFill>
          <a:blip r:embed="rId3"/>
          <a:stretch>
            <a:fillRect/>
          </a:stretch>
        </p:blipFill>
        <p:spPr>
          <a:xfrm>
            <a:off x="6247836" y="3939716"/>
            <a:ext cx="4769787" cy="2663502"/>
          </a:xfrm>
          <a:prstGeom prst="rect">
            <a:avLst/>
          </a:prstGeom>
        </p:spPr>
      </p:pic>
    </p:spTree>
    <p:extLst>
      <p:ext uri="{BB962C8B-B14F-4D97-AF65-F5344CB8AC3E}">
        <p14:creationId xmlns:p14="http://schemas.microsoft.com/office/powerpoint/2010/main" val="903731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E164-7C08-9F1B-A0E2-5EFB10299AF1}"/>
              </a:ext>
            </a:extLst>
          </p:cNvPr>
          <p:cNvSpPr>
            <a:spLocks noGrp="1"/>
          </p:cNvSpPr>
          <p:nvPr>
            <p:ph type="title"/>
          </p:nvPr>
        </p:nvSpPr>
        <p:spPr/>
        <p:txBody>
          <a:bodyPr/>
          <a:lstStyle/>
          <a:p>
            <a:r>
              <a:rPr lang="en-US" dirty="0"/>
              <a:t>Testing and Validation</a:t>
            </a:r>
          </a:p>
        </p:txBody>
      </p:sp>
      <p:sp>
        <p:nvSpPr>
          <p:cNvPr id="3" name="Content Placeholder 2">
            <a:extLst>
              <a:ext uri="{FF2B5EF4-FFF2-40B4-BE49-F238E27FC236}">
                <a16:creationId xmlns:a16="http://schemas.microsoft.com/office/drawing/2014/main" id="{15E7A898-1441-3E71-92DC-9D56CA3E5AD5}"/>
              </a:ext>
            </a:extLst>
          </p:cNvPr>
          <p:cNvSpPr>
            <a:spLocks noGrp="1"/>
          </p:cNvSpPr>
          <p:nvPr>
            <p:ph idx="1"/>
          </p:nvPr>
        </p:nvSpPr>
        <p:spPr/>
        <p:txBody>
          <a:bodyPr>
            <a:normAutofit fontScale="77500" lnSpcReduction="20000"/>
          </a:bodyPr>
          <a:lstStyle/>
          <a:p>
            <a:r>
              <a:rPr lang="en-US" dirty="0"/>
              <a:t>Each module tested for functional correctness and security</a:t>
            </a:r>
          </a:p>
          <a:p>
            <a:r>
              <a:rPr lang="en-US" dirty="0"/>
              <a:t>Manual and exploratory tests conducted across use cases</a:t>
            </a:r>
          </a:p>
          <a:p>
            <a:r>
              <a:rPr lang="en-US" dirty="0"/>
              <a:t>SQLite Browser used to confirm DB entries and relational mapping</a:t>
            </a:r>
          </a:p>
          <a:p>
            <a:r>
              <a:rPr lang="en-US" dirty="0"/>
              <a:t>Input fields validated using HTML5 and backend assertions</a:t>
            </a:r>
          </a:p>
          <a:p>
            <a:r>
              <a:rPr lang="en-US" dirty="0"/>
              <a:t>Session handling checked using browser </a:t>
            </a:r>
            <a:r>
              <a:rPr lang="en-US" dirty="0" err="1"/>
              <a:t>DevTools</a:t>
            </a:r>
            <a:endParaRPr lang="en-US" dirty="0"/>
          </a:p>
          <a:p>
            <a:r>
              <a:rPr lang="en-US" dirty="0"/>
              <a:t>SQL injection attempts blocked using parameterized statements</a:t>
            </a:r>
          </a:p>
          <a:p>
            <a:r>
              <a:rPr lang="en-US" dirty="0"/>
              <a:t>Edge cases (empty fields, incorrect login, duplicate entries) tested</a:t>
            </a:r>
          </a:p>
          <a:p>
            <a:r>
              <a:rPr lang="en-US" dirty="0"/>
              <a:t>Admin routes tested without login to ensure redirect</a:t>
            </a:r>
          </a:p>
          <a:p>
            <a:r>
              <a:rPr lang="en-US" dirty="0"/>
              <a:t>Donor matching accuracy verified against manually input data</a:t>
            </a:r>
          </a:p>
          <a:p>
            <a:r>
              <a:rPr lang="en-US" dirty="0"/>
              <a:t>Flash message feedback confirmed under all scenarios</a:t>
            </a:r>
          </a:p>
          <a:p>
            <a:r>
              <a:rPr lang="en-US" dirty="0"/>
              <a:t>Error logs reviewed during development to fix issues</a:t>
            </a:r>
          </a:p>
          <a:p>
            <a:r>
              <a:rPr lang="en-US" dirty="0"/>
              <a:t>Cross-browser behavior observed for responsiveness and styling</a:t>
            </a:r>
          </a:p>
          <a:p>
            <a:r>
              <a:rPr lang="en-US" dirty="0"/>
              <a:t>Testing process documented for reproducibility</a:t>
            </a:r>
          </a:p>
          <a:p>
            <a:r>
              <a:rPr lang="en-US" dirty="0"/>
              <a:t>Peer testing feedback helped improve usability and clarity</a:t>
            </a:r>
          </a:p>
          <a:p>
            <a:r>
              <a:rPr lang="en-US" dirty="0"/>
              <a:t>Future scope: implement automated tests with </a:t>
            </a:r>
            <a:r>
              <a:rPr lang="en-US" dirty="0" err="1"/>
              <a:t>unittest</a:t>
            </a:r>
            <a:r>
              <a:rPr lang="en-US" dirty="0"/>
              <a:t> or </a:t>
            </a:r>
            <a:r>
              <a:rPr lang="en-US" dirty="0" err="1"/>
              <a:t>pytest</a:t>
            </a:r>
            <a:endParaRPr lang="en-US" dirty="0"/>
          </a:p>
          <a:p>
            <a:endParaRPr lang="en-US" dirty="0"/>
          </a:p>
        </p:txBody>
      </p:sp>
    </p:spTree>
    <p:extLst>
      <p:ext uri="{BB962C8B-B14F-4D97-AF65-F5344CB8AC3E}">
        <p14:creationId xmlns:p14="http://schemas.microsoft.com/office/powerpoint/2010/main" val="3408224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C158E-60E8-CDE0-9F73-9A4582BB71C3}"/>
              </a:ext>
            </a:extLst>
          </p:cNvPr>
          <p:cNvSpPr>
            <a:spLocks noGrp="1"/>
          </p:cNvSpPr>
          <p:nvPr>
            <p:ph type="title"/>
          </p:nvPr>
        </p:nvSpPr>
        <p:spPr/>
        <p:txBody>
          <a:bodyPr/>
          <a:lstStyle/>
          <a:p>
            <a:r>
              <a:rPr lang="en-US" dirty="0"/>
              <a:t>Quality Metrics</a:t>
            </a:r>
          </a:p>
        </p:txBody>
      </p:sp>
      <p:sp>
        <p:nvSpPr>
          <p:cNvPr id="3" name="Content Placeholder 2">
            <a:extLst>
              <a:ext uri="{FF2B5EF4-FFF2-40B4-BE49-F238E27FC236}">
                <a16:creationId xmlns:a16="http://schemas.microsoft.com/office/drawing/2014/main" id="{4B0088D6-E5C6-0F99-185B-18D015CE5F26}"/>
              </a:ext>
            </a:extLst>
          </p:cNvPr>
          <p:cNvSpPr>
            <a:spLocks noGrp="1"/>
          </p:cNvSpPr>
          <p:nvPr>
            <p:ph idx="1"/>
          </p:nvPr>
        </p:nvSpPr>
        <p:spPr/>
        <p:txBody>
          <a:bodyPr>
            <a:normAutofit fontScale="85000" lnSpcReduction="10000"/>
          </a:bodyPr>
          <a:lstStyle/>
          <a:p>
            <a:r>
              <a:rPr lang="en-US" dirty="0"/>
              <a:t>Evaluated modules using appropriate software quality metrics:</a:t>
            </a:r>
          </a:p>
          <a:p>
            <a:pPr lvl="1"/>
            <a:r>
              <a:rPr lang="en-US" b="1" dirty="0"/>
              <a:t>Authentication</a:t>
            </a:r>
            <a:r>
              <a:rPr lang="en-US" dirty="0"/>
              <a:t>: Security (Password hashing, session integrity)</a:t>
            </a:r>
          </a:p>
          <a:p>
            <a:pPr lvl="1"/>
            <a:r>
              <a:rPr lang="en-US" b="1" dirty="0"/>
              <a:t>Donor Registration</a:t>
            </a:r>
            <a:r>
              <a:rPr lang="en-US" dirty="0"/>
              <a:t>: Functionality (Reliable, validated inputs)</a:t>
            </a:r>
          </a:p>
          <a:p>
            <a:pPr lvl="1"/>
            <a:r>
              <a:rPr lang="en-US" b="1" dirty="0"/>
              <a:t>Blood Request</a:t>
            </a:r>
            <a:r>
              <a:rPr lang="en-US" dirty="0"/>
              <a:t>: Usability (Simplicity and clarity of forms)</a:t>
            </a:r>
          </a:p>
          <a:p>
            <a:pPr lvl="1"/>
            <a:r>
              <a:rPr lang="en-US" b="1" dirty="0"/>
              <a:t>Admin Panel</a:t>
            </a:r>
            <a:r>
              <a:rPr lang="en-US" dirty="0"/>
              <a:t>: Reliability (System stability under edge cases)</a:t>
            </a:r>
          </a:p>
          <a:p>
            <a:pPr lvl="1"/>
            <a:r>
              <a:rPr lang="en-US" b="1" dirty="0"/>
              <a:t>Donor Matching</a:t>
            </a:r>
            <a:r>
              <a:rPr lang="en-US" dirty="0"/>
              <a:t>: Efficiency (Quick, accurate result rendering)</a:t>
            </a:r>
          </a:p>
          <a:p>
            <a:r>
              <a:rPr lang="en-US" dirty="0"/>
              <a:t>Additional focus on Modularity and Maintainability</a:t>
            </a:r>
          </a:p>
          <a:p>
            <a:r>
              <a:rPr lang="en-US" dirty="0"/>
              <a:t>Routes and templates separated logically by responsibility</a:t>
            </a:r>
          </a:p>
          <a:p>
            <a:r>
              <a:rPr lang="en-US" dirty="0"/>
              <a:t>Code follows PEP8 conventions and clear naming practices</a:t>
            </a:r>
          </a:p>
          <a:p>
            <a:r>
              <a:rPr lang="en-US" dirty="0"/>
              <a:t>Centralized DB access function improves code reuse</a:t>
            </a:r>
          </a:p>
          <a:p>
            <a:r>
              <a:rPr lang="en-US" dirty="0"/>
              <a:t>Templates use consistent styling and extend base layout</a:t>
            </a:r>
          </a:p>
          <a:p>
            <a:r>
              <a:rPr lang="en-US" dirty="0"/>
              <a:t>No hardcoded values; all logic structured for reuse</a:t>
            </a:r>
          </a:p>
          <a:p>
            <a:r>
              <a:rPr lang="en-US" dirty="0"/>
              <a:t>Efficient DB queries reduce latency and support scalability</a:t>
            </a:r>
          </a:p>
          <a:p>
            <a:r>
              <a:rPr lang="en-US" dirty="0"/>
              <a:t>Layout adaptable for future features like availability toggle</a:t>
            </a:r>
          </a:p>
          <a:p>
            <a:r>
              <a:rPr lang="en-US" dirty="0"/>
              <a:t>Quality ensured via team reviews and iterative improvements</a:t>
            </a:r>
          </a:p>
          <a:p>
            <a:endParaRPr lang="en-US" dirty="0"/>
          </a:p>
        </p:txBody>
      </p:sp>
    </p:spTree>
    <p:extLst>
      <p:ext uri="{BB962C8B-B14F-4D97-AF65-F5344CB8AC3E}">
        <p14:creationId xmlns:p14="http://schemas.microsoft.com/office/powerpoint/2010/main" val="108552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94EEB-F196-02EE-782D-402B0BDA48FB}"/>
              </a:ext>
            </a:extLst>
          </p:cNvPr>
          <p:cNvSpPr>
            <a:spLocks noGrp="1"/>
          </p:cNvSpPr>
          <p:nvPr>
            <p:ph type="title"/>
          </p:nvPr>
        </p:nvSpPr>
        <p:spPr/>
        <p:txBody>
          <a:bodyPr/>
          <a:lstStyle/>
          <a:p>
            <a:r>
              <a:rPr lang="en-US" dirty="0"/>
              <a:t>Risks and Ethics</a:t>
            </a:r>
          </a:p>
        </p:txBody>
      </p:sp>
      <p:sp>
        <p:nvSpPr>
          <p:cNvPr id="3" name="Content Placeholder 2">
            <a:extLst>
              <a:ext uri="{FF2B5EF4-FFF2-40B4-BE49-F238E27FC236}">
                <a16:creationId xmlns:a16="http://schemas.microsoft.com/office/drawing/2014/main" id="{783A913A-65D2-51FB-4991-3F952264A438}"/>
              </a:ext>
            </a:extLst>
          </p:cNvPr>
          <p:cNvSpPr>
            <a:spLocks noGrp="1"/>
          </p:cNvSpPr>
          <p:nvPr>
            <p:ph idx="1"/>
          </p:nvPr>
        </p:nvSpPr>
        <p:spPr/>
        <p:txBody>
          <a:bodyPr>
            <a:normAutofit fontScale="77500" lnSpcReduction="20000"/>
          </a:bodyPr>
          <a:lstStyle/>
          <a:p>
            <a:r>
              <a:rPr lang="en-US" b="1" dirty="0"/>
              <a:t>Legal Risks</a:t>
            </a:r>
            <a:r>
              <a:rPr lang="en-US" dirty="0"/>
              <a:t>: No use of real user data; fake entries for testing</a:t>
            </a:r>
          </a:p>
          <a:p>
            <a:r>
              <a:rPr lang="en-US" b="1" dirty="0"/>
              <a:t>Security Risks</a:t>
            </a:r>
            <a:r>
              <a:rPr lang="en-US" dirty="0"/>
              <a:t>: Password hashing, access control, session validation</a:t>
            </a:r>
          </a:p>
          <a:p>
            <a:r>
              <a:rPr lang="en-US" b="1" dirty="0"/>
              <a:t>Project Risks</a:t>
            </a:r>
            <a:r>
              <a:rPr lang="en-US" dirty="0"/>
              <a:t>: Feature creep avoided by prioritizing MVP features</a:t>
            </a:r>
          </a:p>
          <a:p>
            <a:r>
              <a:rPr lang="en-US" b="1" dirty="0"/>
              <a:t>Ethical Risks</a:t>
            </a:r>
            <a:r>
              <a:rPr lang="en-US" dirty="0"/>
              <a:t>: Avoided misrepresentation of medical data or urgency</a:t>
            </a:r>
          </a:p>
          <a:p>
            <a:r>
              <a:rPr lang="en-US" dirty="0"/>
              <a:t>Peer testers signed consent forms before usability tests</a:t>
            </a:r>
          </a:p>
          <a:p>
            <a:r>
              <a:rPr lang="en-US" dirty="0"/>
              <a:t>Admin panel prevents misuse by enabling user moderation</a:t>
            </a:r>
          </a:p>
          <a:p>
            <a:r>
              <a:rPr lang="en-US" dirty="0"/>
              <a:t>Complies with British Computer Society (BCS) Code of Conduct</a:t>
            </a:r>
          </a:p>
          <a:p>
            <a:r>
              <a:rPr lang="en-US" dirty="0"/>
              <a:t>Sessions cleared on logout to protect privacy</a:t>
            </a:r>
          </a:p>
          <a:p>
            <a:r>
              <a:rPr lang="en-US" dirty="0"/>
              <a:t>Data collected limited to minimal identifiers only</a:t>
            </a:r>
          </a:p>
          <a:p>
            <a:r>
              <a:rPr lang="en-US" dirty="0"/>
              <a:t>Communication respectful and inclusive during collaboration</a:t>
            </a:r>
          </a:p>
          <a:p>
            <a:r>
              <a:rPr lang="en-US" dirty="0"/>
              <a:t>Team ensured proper citations of AI and external tools</a:t>
            </a:r>
          </a:p>
          <a:p>
            <a:r>
              <a:rPr lang="en-US" dirty="0"/>
              <a:t>Code repository secured and contributions tracked</a:t>
            </a:r>
          </a:p>
          <a:p>
            <a:r>
              <a:rPr lang="en-US" dirty="0"/>
              <a:t>No bias introduced in donor filtering logic</a:t>
            </a:r>
          </a:p>
          <a:p>
            <a:r>
              <a:rPr lang="en-US" dirty="0"/>
              <a:t>Future risks mitigated via modular, extensible architecture</a:t>
            </a:r>
          </a:p>
          <a:p>
            <a:r>
              <a:rPr lang="en-US" dirty="0"/>
              <a:t>Project implemented with social responsibility in mind</a:t>
            </a:r>
          </a:p>
          <a:p>
            <a:endParaRPr lang="en-US" dirty="0"/>
          </a:p>
        </p:txBody>
      </p:sp>
    </p:spTree>
    <p:extLst>
      <p:ext uri="{BB962C8B-B14F-4D97-AF65-F5344CB8AC3E}">
        <p14:creationId xmlns:p14="http://schemas.microsoft.com/office/powerpoint/2010/main" val="4185236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98AC-211A-140C-0C8D-E97DE3B9BD6B}"/>
              </a:ext>
            </a:extLst>
          </p:cNvPr>
          <p:cNvSpPr>
            <a:spLocks noGrp="1"/>
          </p:cNvSpPr>
          <p:nvPr>
            <p:ph type="title"/>
          </p:nvPr>
        </p:nvSpPr>
        <p:spPr/>
        <p:txBody>
          <a:bodyPr/>
          <a:lstStyle/>
          <a:p>
            <a:r>
              <a:rPr lang="en-US" dirty="0"/>
              <a:t>Conclusion &amp; Reflection</a:t>
            </a:r>
          </a:p>
        </p:txBody>
      </p:sp>
      <p:sp>
        <p:nvSpPr>
          <p:cNvPr id="3" name="Content Placeholder 2">
            <a:extLst>
              <a:ext uri="{FF2B5EF4-FFF2-40B4-BE49-F238E27FC236}">
                <a16:creationId xmlns:a16="http://schemas.microsoft.com/office/drawing/2014/main" id="{C0A3651F-8C51-1503-654C-BB0626F0A229}"/>
              </a:ext>
            </a:extLst>
          </p:cNvPr>
          <p:cNvSpPr>
            <a:spLocks noGrp="1"/>
          </p:cNvSpPr>
          <p:nvPr>
            <p:ph idx="1"/>
          </p:nvPr>
        </p:nvSpPr>
        <p:spPr/>
        <p:txBody>
          <a:bodyPr>
            <a:normAutofit fontScale="77500" lnSpcReduction="20000"/>
          </a:bodyPr>
          <a:lstStyle/>
          <a:p>
            <a:r>
              <a:rPr lang="en-US" dirty="0"/>
              <a:t>Completed a secure, functional, and user-friendly web application</a:t>
            </a:r>
          </a:p>
          <a:p>
            <a:r>
              <a:rPr lang="en-US" dirty="0"/>
              <a:t>Real-world problem: streamlined blood donor-recipient coordination</a:t>
            </a:r>
          </a:p>
          <a:p>
            <a:r>
              <a:rPr lang="en-US" dirty="0"/>
              <a:t>Modular design enables easy maintenance and future growth</a:t>
            </a:r>
          </a:p>
          <a:p>
            <a:r>
              <a:rPr lang="en-US" dirty="0"/>
              <a:t>Agile practices improved collaboration and task distribution</a:t>
            </a:r>
          </a:p>
          <a:p>
            <a:r>
              <a:rPr lang="en-US" dirty="0"/>
              <a:t>Individual strengths leveraged across design, backend, testing</a:t>
            </a:r>
          </a:p>
          <a:p>
            <a:r>
              <a:rPr lang="en-US" dirty="0"/>
              <a:t>Gained hands-on experience with Flask, routing, and DB integration</a:t>
            </a:r>
          </a:p>
          <a:p>
            <a:r>
              <a:rPr lang="en-US" dirty="0"/>
              <a:t>Peer assessment revealed strong team synergy and shared ownership</a:t>
            </a:r>
          </a:p>
          <a:p>
            <a:r>
              <a:rPr lang="en-US" dirty="0"/>
              <a:t>Adjusted UI and logic based on user feedback</a:t>
            </a:r>
          </a:p>
          <a:p>
            <a:r>
              <a:rPr lang="en-US" dirty="0"/>
              <a:t>Implemented ethical and secure software development practices</a:t>
            </a:r>
          </a:p>
          <a:p>
            <a:r>
              <a:rPr lang="en-US" dirty="0"/>
              <a:t>Enhanced understanding of sprint planning and review cycles</a:t>
            </a:r>
          </a:p>
          <a:p>
            <a:r>
              <a:rPr lang="en-US" dirty="0"/>
              <a:t>Project encouraged real-world thinking and community impact</a:t>
            </a:r>
          </a:p>
          <a:p>
            <a:r>
              <a:rPr lang="en-US" dirty="0"/>
              <a:t>Ready for demo presentation and possible deployment</a:t>
            </a:r>
          </a:p>
          <a:p>
            <a:r>
              <a:rPr lang="en-US" dirty="0"/>
              <a:t>Entire team met learning outcomes through active participation</a:t>
            </a:r>
          </a:p>
          <a:p>
            <a:r>
              <a:rPr lang="en-US" dirty="0"/>
              <a:t>Future roadmap includes map integration and notification systems</a:t>
            </a:r>
          </a:p>
          <a:p>
            <a:r>
              <a:rPr lang="en-US" dirty="0"/>
              <a:t>Proud of the outcome and the lessons learned through teamwork</a:t>
            </a:r>
          </a:p>
          <a:p>
            <a:endParaRPr lang="en-US" dirty="0"/>
          </a:p>
        </p:txBody>
      </p:sp>
    </p:spTree>
    <p:extLst>
      <p:ext uri="{BB962C8B-B14F-4D97-AF65-F5344CB8AC3E}">
        <p14:creationId xmlns:p14="http://schemas.microsoft.com/office/powerpoint/2010/main" val="4182501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78106-AD2D-54C9-38A4-807CD570FE7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9405A64-57F3-EDB7-4CAD-36D1BE64E687}"/>
              </a:ext>
            </a:extLst>
          </p:cNvPr>
          <p:cNvSpPr>
            <a:spLocks noGrp="1"/>
          </p:cNvSpPr>
          <p:nvPr>
            <p:ph idx="1"/>
          </p:nvPr>
        </p:nvSpPr>
        <p:spPr/>
        <p:txBody>
          <a:bodyPr>
            <a:normAutofit fontScale="47500" lnSpcReduction="20000"/>
          </a:bodyPr>
          <a:lstStyle/>
          <a:p>
            <a:r>
              <a:rPr lang="en-US" dirty="0" err="1"/>
              <a:t>Sardi</a:t>
            </a:r>
            <a:r>
              <a:rPr lang="en-US" dirty="0"/>
              <a:t>, L., </a:t>
            </a:r>
            <a:r>
              <a:rPr lang="en-US" dirty="0" err="1"/>
              <a:t>Kharbouch</a:t>
            </a:r>
            <a:r>
              <a:rPr lang="en-US" dirty="0"/>
              <a:t>, M., Rachad, T., </a:t>
            </a:r>
            <a:r>
              <a:rPr lang="en-US" dirty="0" err="1"/>
              <a:t>Idri</a:t>
            </a:r>
            <a:r>
              <a:rPr lang="en-US" dirty="0"/>
              <a:t>, A., De Gea, J. M. C., &amp; Fernández-Alemán, J. L. (2019). Blood4Life: a mobile solution to recruit and retain blood donors through gamification and Trans-Theoretical model. In Advances in intelligent systems and computing (pp. 3–12). </a:t>
            </a:r>
            <a:r>
              <a:rPr lang="en-US" dirty="0">
                <a:hlinkClick r:id="rId2"/>
              </a:rPr>
              <a:t>https://doi.org/10.1007/978-3-030-16187-3_1</a:t>
            </a:r>
            <a:endParaRPr lang="en-US" dirty="0"/>
          </a:p>
          <a:p>
            <a:r>
              <a:rPr lang="en-US" dirty="0"/>
              <a:t>Prathima, S., &amp; Durga, R. (2024). An efficient CH based authentication and authorization for secure EHR using DF-</a:t>
            </a:r>
            <a:r>
              <a:rPr lang="en-US" dirty="0" err="1"/>
              <a:t>BCrypt</a:t>
            </a:r>
            <a:r>
              <a:rPr lang="en-US" dirty="0"/>
              <a:t> and hashed access structure. In Communications in computer and information science (pp. 207–226). </a:t>
            </a:r>
            <a:r>
              <a:rPr lang="en-US" dirty="0">
                <a:hlinkClick r:id="rId3"/>
              </a:rPr>
              <a:t>https://doi.org/10.1007/978-3-031-59100-6_16</a:t>
            </a:r>
            <a:endParaRPr lang="en-US" dirty="0"/>
          </a:p>
          <a:p>
            <a:r>
              <a:rPr lang="en-US" dirty="0"/>
              <a:t>Unit </a:t>
            </a:r>
            <a:r>
              <a:rPr lang="en-US" dirty="0" err="1"/>
              <a:t>Penerbitan</a:t>
            </a:r>
            <a:r>
              <a:rPr lang="en-US" dirty="0"/>
              <a:t> UiTM Kelantan. (n.d.). Applying personal scrum methodology in system development for project-based learning course / Nor Asma Mohd Zin . . . [et al.]  - UiTM Institutional Repository. </a:t>
            </a:r>
            <a:r>
              <a:rPr lang="en-US" dirty="0">
                <a:hlinkClick r:id="rId4"/>
              </a:rPr>
              <a:t>https://ir.uitm.edu.my/id/eprint/113381/</a:t>
            </a:r>
            <a:endParaRPr lang="en-US" dirty="0"/>
          </a:p>
          <a:p>
            <a:r>
              <a:rPr lang="en-US" dirty="0" err="1"/>
              <a:t>Calzavara</a:t>
            </a:r>
            <a:r>
              <a:rPr lang="en-US" dirty="0"/>
              <a:t>, S. (2024, July 8). A Whitebox analysis of session management and account creation in web applications. </a:t>
            </a:r>
            <a:r>
              <a:rPr lang="en-US" dirty="0">
                <a:hlinkClick r:id="rId5"/>
              </a:rPr>
              <a:t>https://unitesi.unive.it/handle/20.500.14247/23754</a:t>
            </a:r>
            <a:endParaRPr lang="en-US" dirty="0"/>
          </a:p>
          <a:p>
            <a:r>
              <a:rPr lang="en-US" dirty="0"/>
              <a:t>Lundmark, O. (2022). Responsive web design for modern devices. DIVA. </a:t>
            </a:r>
            <a:r>
              <a:rPr lang="en-US" dirty="0">
                <a:hlinkClick r:id="rId6"/>
              </a:rPr>
              <a:t>https://www.diva-portal.org/smash/record.jsf?pid=diva2%3A1673527&amp;dswid=1971</a:t>
            </a:r>
            <a:endParaRPr lang="en-US" dirty="0"/>
          </a:p>
          <a:p>
            <a:r>
              <a:rPr lang="en-US" dirty="0"/>
              <a:t>Naik, N., Hameed, B. M. Z., Shetty, D. K., Swain, D., Shah, M., Paul, R., Aggarwal, K., Ibrahim, S., Patil, V., Smriti, K., Shetty, S., Rai, B. P., </a:t>
            </a:r>
            <a:r>
              <a:rPr lang="en-US" dirty="0" err="1"/>
              <a:t>Chlosta</a:t>
            </a:r>
            <a:r>
              <a:rPr lang="en-US" dirty="0"/>
              <a:t>, P., &amp; Somani, B. K. (2022). Legal and ethical consideration in artificial intelligence in healthcare: Who takes responsibility? Frontiers in Surgery, 9. </a:t>
            </a:r>
            <a:r>
              <a:rPr lang="en-US" dirty="0">
                <a:hlinkClick r:id="rId7"/>
              </a:rPr>
              <a:t>https://doi.org/10.3389/fsurg.2022.862322</a:t>
            </a:r>
            <a:endParaRPr lang="en-US" dirty="0"/>
          </a:p>
          <a:p>
            <a:r>
              <a:rPr lang="en-US" dirty="0"/>
              <a:t>Ramírez‐Noriega, A., Martínez‐Ramírez, Y., Jiménez, S., Soto‐Vega, J., &amp; Figueroa‐Pérez, J. F. (2021). </a:t>
            </a:r>
            <a:r>
              <a:rPr lang="en-US" dirty="0" err="1"/>
              <a:t>inDev</a:t>
            </a:r>
            <a:r>
              <a:rPr lang="en-US" dirty="0"/>
              <a:t>: A software to generate an MVC architecture based on the ER model. Computer Applications in Engineering Education. </a:t>
            </a:r>
            <a:r>
              <a:rPr lang="en-US" dirty="0">
                <a:hlinkClick r:id="rId8"/>
              </a:rPr>
              <a:t>https://doi.org/10.1002/cae.22455</a:t>
            </a:r>
            <a:endParaRPr lang="en-US" dirty="0"/>
          </a:p>
          <a:p>
            <a:r>
              <a:rPr lang="en-US" dirty="0"/>
              <a:t>Rodrigues, R., Donald, J., Cicek, J. S., Miller-Koren, F., Kia, Y. J., &amp; Donald, S. (2024). Engineering leadership and cultural awareness development through a student-led workshop. Proceedings of the Canadian Engineering Education Association (CEEA). </a:t>
            </a:r>
            <a:r>
              <a:rPr lang="en-US" dirty="0">
                <a:hlinkClick r:id="rId9"/>
              </a:rPr>
              <a:t>https://doi.org/10.24908/pceea.2023.17063</a:t>
            </a:r>
            <a:endParaRPr lang="en-US" dirty="0"/>
          </a:p>
          <a:p>
            <a:r>
              <a:rPr lang="en-US" dirty="0"/>
              <a:t>Enhancing emergency blood supply chain management through a Demand-Driven mobile application for rapid donor mobilization. (n.d.). IEEE Conference Publication | IEEE Xplore. </a:t>
            </a:r>
            <a:r>
              <a:rPr lang="en-US" dirty="0">
                <a:hlinkClick r:id="rId10"/>
              </a:rPr>
              <a:t>https://ieeexplore.ieee.org/abstract/document/11005122</a:t>
            </a:r>
            <a:endParaRPr lang="en-US" dirty="0"/>
          </a:p>
          <a:p>
            <a:r>
              <a:rPr lang="en-US" dirty="0" err="1"/>
              <a:t>Ugwunna</a:t>
            </a:r>
            <a:r>
              <a:rPr lang="en-US" dirty="0"/>
              <a:t>, C. O., Orji, E., Alabi, O., </a:t>
            </a:r>
            <a:r>
              <a:rPr lang="en-US" dirty="0" err="1"/>
              <a:t>Okimba</a:t>
            </a:r>
            <a:r>
              <a:rPr lang="en-US" dirty="0"/>
              <a:t>, P., &amp; </a:t>
            </a:r>
            <a:r>
              <a:rPr lang="en-US" dirty="0" err="1"/>
              <a:t>Enebeli</a:t>
            </a:r>
            <a:r>
              <a:rPr lang="en-US" dirty="0"/>
              <a:t>, G. C. (2024, August 5). Development of a web based hospital emergency application. </a:t>
            </a:r>
            <a:r>
              <a:rPr lang="en-US" dirty="0">
                <a:hlinkClick r:id="rId11"/>
              </a:rPr>
              <a:t>http://laujci.lautech.edu.ng/index.php/laujci/article/view/124</a:t>
            </a:r>
            <a:endParaRPr lang="en-US" dirty="0"/>
          </a:p>
        </p:txBody>
      </p:sp>
    </p:spTree>
    <p:extLst>
      <p:ext uri="{BB962C8B-B14F-4D97-AF65-F5344CB8AC3E}">
        <p14:creationId xmlns:p14="http://schemas.microsoft.com/office/powerpoint/2010/main" val="2022670805"/>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88</TotalTime>
  <Words>3476</Words>
  <Application>Microsoft Office PowerPoint</Application>
  <PresentationFormat>Widescreen</PresentationFormat>
  <Paragraphs>241</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Calibri Light</vt:lpstr>
      <vt:lpstr>Rockwell</vt:lpstr>
      <vt:lpstr>Wingdings</vt:lpstr>
      <vt:lpstr>Atlas</vt:lpstr>
      <vt:lpstr>Blood Donation Software Development Project</vt:lpstr>
      <vt:lpstr>Team Members</vt:lpstr>
      <vt:lpstr>Project Overview</vt:lpstr>
      <vt:lpstr>Agile Methodology</vt:lpstr>
      <vt:lpstr>Sprint Breakdown</vt:lpstr>
      <vt:lpstr>Tools &amp; Technologies</vt:lpstr>
      <vt:lpstr>System Architecture</vt:lpstr>
      <vt:lpstr>User Authentication</vt:lpstr>
      <vt:lpstr>Donor Registration</vt:lpstr>
      <vt:lpstr>Blood Request Feature</vt:lpstr>
      <vt:lpstr>Donor Matching</vt:lpstr>
      <vt:lpstr>Admin Dashboard</vt:lpstr>
      <vt:lpstr>Testing and Validation</vt:lpstr>
      <vt:lpstr>Quality Metrics</vt:lpstr>
      <vt:lpstr>Risks and Ethics</vt:lpstr>
      <vt:lpstr>Conclusion &amp; Reflection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Garhwal</dc:creator>
  <cp:lastModifiedBy>ACER</cp:lastModifiedBy>
  <cp:revision>14</cp:revision>
  <dcterms:created xsi:type="dcterms:W3CDTF">2025-07-22T18:24:13Z</dcterms:created>
  <dcterms:modified xsi:type="dcterms:W3CDTF">2025-08-02T17:57:37Z</dcterms:modified>
</cp:coreProperties>
</file>